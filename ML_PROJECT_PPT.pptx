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83" r:id="rId2"/>
    <p:sldId id="257" r:id="rId3"/>
    <p:sldId id="282" r:id="rId4"/>
    <p:sldId id="285" r:id="rId5"/>
    <p:sldId id="278" r:id="rId6"/>
    <p:sldId id="279" r:id="rId7"/>
    <p:sldId id="292" r:id="rId8"/>
    <p:sldId id="262" r:id="rId9"/>
    <p:sldId id="290" r:id="rId10"/>
    <p:sldId id="291" r:id="rId11"/>
    <p:sldId id="293" r:id="rId12"/>
    <p:sldId id="294" r:id="rId13"/>
    <p:sldId id="295" r:id="rId14"/>
    <p:sldId id="296" r:id="rId15"/>
    <p:sldId id="301" r:id="rId16"/>
    <p:sldId id="297" r:id="rId17"/>
    <p:sldId id="298" r:id="rId18"/>
    <p:sldId id="286" r:id="rId19"/>
    <p:sldId id="287" r:id="rId20"/>
    <p:sldId id="280" r:id="rId21"/>
    <p:sldId id="288" r:id="rId22"/>
    <p:sldId id="289" r:id="rId23"/>
    <p:sldId id="299" r:id="rId24"/>
    <p:sldId id="300" r:id="rId25"/>
    <p:sldId id="27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827"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5DFC45A-0E92-6CFD-3DD2-FCAF51E7292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CC08EBA-9ABE-143C-83D9-96B7EA377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FAF0CCF8-9E01-C17F-172C-7CEC8F030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0421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bm-ml-project.onrender.com/"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hubham20387/IBM-ML-projec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ibm-ml-project.onrender.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mailto:shubham20387@gmail.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1226830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Shubhamkumar Patil</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shubham20387@gmail.com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9860697631</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l="14003" r="8600" b="13881"/>
          <a:stretch>
            <a:fillRect/>
          </a:stretch>
        </p:blipFill>
        <p:spPr>
          <a:xfrm>
            <a:off x="4152901" y="3738417"/>
            <a:ext cx="809624" cy="886183"/>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Industry</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dirty="0"/>
              <a:t>Predictive Maintenance of Industrial Machinery</a:t>
            </a:r>
            <a:endParaRPr lang="en-IN" sz="28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a:t>
            </a:r>
            <a:endParaRPr lang="en-IN" sz="2800" b="1" dirty="0"/>
          </a:p>
        </p:txBody>
      </p:sp>
      <p:sp>
        <p:nvSpPr>
          <p:cNvPr id="4" name="TextBox 3">
            <a:extLst>
              <a:ext uri="{FF2B5EF4-FFF2-40B4-BE49-F238E27FC236}">
                <a16:creationId xmlns:a16="http://schemas.microsoft.com/office/drawing/2014/main" id="{CBF380B6-14CC-7EB1-4EAA-8EEF71AC35D9}"/>
              </a:ext>
            </a:extLst>
          </p:cNvPr>
          <p:cNvSpPr txBox="1"/>
          <p:nvPr/>
        </p:nvSpPr>
        <p:spPr>
          <a:xfrm>
            <a:off x="881062" y="1380009"/>
            <a:ext cx="10429875" cy="4097981"/>
          </a:xfrm>
          <a:prstGeom prst="rect">
            <a:avLst/>
          </a:prstGeom>
          <a:noFill/>
        </p:spPr>
        <p:txBody>
          <a:bodyPr wrap="square" rtlCol="0">
            <a:spAutoFit/>
          </a:bodyPr>
          <a:lstStyle/>
          <a:p>
            <a:pPr>
              <a:lnSpc>
                <a:spcPct val="150000"/>
              </a:lnSpc>
            </a:pPr>
            <a:r>
              <a:rPr lang="en-US" sz="2800" b="1" dirty="0"/>
              <a:t>Predictive Maintenance of Industrial Machinery </a:t>
            </a:r>
          </a:p>
          <a:p>
            <a:pPr>
              <a:lnSpc>
                <a:spcPct val="150000"/>
              </a:lnSpc>
            </a:pPr>
            <a:endParaRPr lang="en-US" sz="2800" b="1" dirty="0"/>
          </a:p>
          <a:p>
            <a:pPr>
              <a:lnSpc>
                <a:spcPct val="150000"/>
              </a:lnSpc>
            </a:pPr>
            <a:r>
              <a:rPr lang="en-US" sz="2000" dirty="0"/>
              <a:t>Develop a predictive maintenance model for a fleet of industrial machines to anticipate failures before they occur. This project will involve analyzing sensor data from machinery to identify patterns that precede a failure. The goal is to create a classification model that can predict the type of failure (e.g., tool wear, heat dissipation, power failure) based on real-time operational data. This will enable proactive maintenance, reducing downtime and operational costs. </a:t>
            </a:r>
            <a:endParaRPr lang="en-IN" sz="2000"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614362" y="448330"/>
            <a:ext cx="7214616" cy="523220"/>
          </a:xfrm>
          <a:prstGeom prst="rect">
            <a:avLst/>
          </a:prstGeom>
          <a:noFill/>
        </p:spPr>
        <p:txBody>
          <a:bodyPr wrap="square" rtlCol="0">
            <a:spAutoFit/>
          </a:bodyPr>
          <a:lstStyle/>
          <a:p>
            <a:r>
              <a:rPr lang="en-US" sz="2800" b="1" dirty="0"/>
              <a:t>Proposed Solution -</a:t>
            </a:r>
            <a:endParaRPr lang="en-IN" sz="2800" b="1" dirty="0"/>
          </a:p>
        </p:txBody>
      </p:sp>
      <p:sp>
        <p:nvSpPr>
          <p:cNvPr id="4" name="TextBox 3">
            <a:extLst>
              <a:ext uri="{FF2B5EF4-FFF2-40B4-BE49-F238E27FC236}">
                <a16:creationId xmlns:a16="http://schemas.microsoft.com/office/drawing/2014/main" id="{E1217BCA-BE96-BCC1-6AC9-825C1D719336}"/>
              </a:ext>
            </a:extLst>
          </p:cNvPr>
          <p:cNvSpPr txBox="1"/>
          <p:nvPr/>
        </p:nvSpPr>
        <p:spPr>
          <a:xfrm>
            <a:off x="845343" y="1190625"/>
            <a:ext cx="10501313" cy="4611519"/>
          </a:xfrm>
          <a:prstGeom prst="rect">
            <a:avLst/>
          </a:prstGeom>
          <a:noFill/>
        </p:spPr>
        <p:txBody>
          <a:bodyPr wrap="square" rtlCol="0">
            <a:spAutoFit/>
          </a:bodyPr>
          <a:lstStyle/>
          <a:p>
            <a:pPr>
              <a:lnSpc>
                <a:spcPct val="150000"/>
              </a:lnSpc>
            </a:pPr>
            <a:r>
              <a:rPr lang="en-IN" sz="1800" dirty="0"/>
              <a:t>The proposed solution leverages Machine Learning (ML) to implement a proactive, data-driven approach for predicting industrial machinery failure before it occurs. By continuously monitoring critical operational parameters—such as air temperature, process temperature, rotational speed, torque, and tool wear—the system effectively captures the complex, non-linear relationships that precede equipment breakdown. Built and deployed within the scalable framework of IBM Watson Studio on the IBM Cloud, this solution utilizes advanced classification algorithms to </a:t>
            </a:r>
            <a:r>
              <a:rPr lang="en-IN" sz="1800" dirty="0" err="1"/>
              <a:t>analyze</a:t>
            </a:r>
            <a:r>
              <a:rPr lang="en-IN" sz="1800" dirty="0"/>
              <a:t> real-time and historical sensor telemetry. By mapping these specific data points against known failure modes, the ML model successfully detects anomalies, estimates structural degradation, and forecasts potential faults. This automated predictive capability transforms traditional maintenance workflows from a reactive or rigidly scheduled routine into an optimized, condition-based strategy, thereby significantly minimizing unplanned downtime, reducing operational costs, and extending the lifespan of vital industrial assets.</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570208"/>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a:t>
            </a:r>
            <a:r>
              <a:rPr lang="en-US" sz="1800" dirty="0" err="1"/>
              <a:t>Nutrion</a:t>
            </a:r>
            <a:r>
              <a:rPr lang="en-US" sz="1800" dirty="0"/>
              <a:t>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ML Algorithm/ Model Used: </a:t>
            </a:r>
            <a:r>
              <a:rPr lang="en-US" sz="1800" dirty="0"/>
              <a:t>Batched tree Ensemble classifier</a:t>
            </a:r>
          </a:p>
          <a:p>
            <a:pPr marL="285750" indent="-285750">
              <a:buFont typeface="Arial" panose="020B0604020202020204" pitchFamily="34" charset="0"/>
              <a:buChar char="•"/>
            </a:pPr>
            <a:r>
              <a:rPr lang="en-US" sz="1800" b="1" dirty="0"/>
              <a:t>Accuracy Obtained: </a:t>
            </a:r>
            <a:r>
              <a:rPr lang="en-US" sz="1800" dirty="0"/>
              <a:t>0.979</a:t>
            </a:r>
          </a:p>
          <a:p>
            <a:pPr marL="285750" indent="-285750">
              <a:buFont typeface="Arial" panose="020B0604020202020204" pitchFamily="34" charset="0"/>
              <a:buChar char="•"/>
            </a:pPr>
            <a:r>
              <a:rPr lang="en-US" sz="1800" b="1" dirty="0"/>
              <a:t>Enhancements and Hyperparameter tuning: </a:t>
            </a:r>
            <a:r>
              <a:rPr lang="en-US" sz="1800" dirty="0"/>
              <a:t>HPO-1, FE, HPO-2, BATCH</a:t>
            </a:r>
          </a:p>
          <a:p>
            <a:pPr marL="285750" indent="-285750">
              <a:buFont typeface="Arial" panose="020B0604020202020204" pitchFamily="34" charset="0"/>
              <a:buChar char="•"/>
            </a:pPr>
            <a:r>
              <a:rPr lang="en-US" sz="1800" b="1" dirty="0"/>
              <a:t>IBM BOB : </a:t>
            </a:r>
            <a:r>
              <a:rPr lang="en-US" sz="1800" dirty="0"/>
              <a:t>To create front end, back end and used API keys for deployment</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CE069FB3-5C7B-4D64-B4BF-5E6591CB271C}"/>
              </a:ext>
            </a:extLst>
          </p:cNvPr>
          <p:cNvPicPr>
            <a:picLocks noChangeAspect="1"/>
          </p:cNvPicPr>
          <p:nvPr/>
        </p:nvPicPr>
        <p:blipFill>
          <a:blip r:embed="rId3"/>
          <a:srcRect t="9445" b="4713"/>
          <a:stretch>
            <a:fillRect/>
          </a:stretch>
        </p:blipFill>
        <p:spPr>
          <a:xfrm>
            <a:off x="1377139" y="981186"/>
            <a:ext cx="10138759" cy="489562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5A85C12-8B64-B700-289D-61A9506A75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F861DF-0272-7B4F-0491-7E490671A98C}"/>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1804A480-6838-75B1-A6FB-7908194D5352}"/>
              </a:ext>
            </a:extLst>
          </p:cNvPr>
          <p:cNvPicPr>
            <a:picLocks noChangeAspect="1"/>
          </p:cNvPicPr>
          <p:nvPr/>
        </p:nvPicPr>
        <p:blipFill>
          <a:blip r:embed="rId3"/>
          <a:srcRect t="9248" b="7079"/>
          <a:stretch>
            <a:fillRect/>
          </a:stretch>
        </p:blipFill>
        <p:spPr>
          <a:xfrm>
            <a:off x="1377139" y="1043043"/>
            <a:ext cx="10138759" cy="4771914"/>
          </a:xfrm>
          <a:prstGeom prst="rect">
            <a:avLst/>
          </a:prstGeom>
        </p:spPr>
      </p:pic>
    </p:spTree>
    <p:extLst>
      <p:ext uri="{BB962C8B-B14F-4D97-AF65-F5344CB8AC3E}">
        <p14:creationId xmlns:p14="http://schemas.microsoft.com/office/powerpoint/2010/main" val="66103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12" name="Picture 11">
            <a:extLst>
              <a:ext uri="{FF2B5EF4-FFF2-40B4-BE49-F238E27FC236}">
                <a16:creationId xmlns:a16="http://schemas.microsoft.com/office/drawing/2014/main" id="{EA32AEB0-3A3B-DE1A-F3F6-817D1B453D04}"/>
              </a:ext>
            </a:extLst>
          </p:cNvPr>
          <p:cNvPicPr>
            <a:picLocks noChangeAspect="1"/>
          </p:cNvPicPr>
          <p:nvPr/>
        </p:nvPicPr>
        <p:blipFill>
          <a:blip r:embed="rId3"/>
          <a:srcRect t="9741" b="4787"/>
          <a:stretch>
            <a:fillRect/>
          </a:stretch>
        </p:blipFill>
        <p:spPr>
          <a:xfrm>
            <a:off x="1083734" y="1019174"/>
            <a:ext cx="10024532" cy="48196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10" name="Picture 9">
            <a:extLst>
              <a:ext uri="{FF2B5EF4-FFF2-40B4-BE49-F238E27FC236}">
                <a16:creationId xmlns:a16="http://schemas.microsoft.com/office/drawing/2014/main" id="{B5FE8DA2-14B6-FAE6-9EC0-7C2A1A404708}"/>
              </a:ext>
            </a:extLst>
          </p:cNvPr>
          <p:cNvPicPr>
            <a:picLocks noChangeAspect="1"/>
          </p:cNvPicPr>
          <p:nvPr/>
        </p:nvPicPr>
        <p:blipFill>
          <a:blip r:embed="rId3"/>
          <a:srcRect t="9666" b="4833"/>
          <a:stretch>
            <a:fillRect/>
          </a:stretch>
        </p:blipFill>
        <p:spPr>
          <a:xfrm>
            <a:off x="1214157" y="1081087"/>
            <a:ext cx="9763685" cy="469582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Calibri"/>
              </a:rPr>
              <a:t>Testing Screenshot:</a:t>
            </a:r>
            <a:endParaRPr lang="en-US" dirty="0"/>
          </a:p>
          <a:p>
            <a:pPr algn="ctr"/>
            <a:endParaRPr lang="en-US" dirty="0"/>
          </a:p>
        </p:txBody>
      </p:sp>
      <p:pic>
        <p:nvPicPr>
          <p:cNvPr id="7" name="Picture 6">
            <a:extLst>
              <a:ext uri="{FF2B5EF4-FFF2-40B4-BE49-F238E27FC236}">
                <a16:creationId xmlns:a16="http://schemas.microsoft.com/office/drawing/2014/main" id="{85DF99AC-D1C6-EA9C-D42E-6073C09D0166}"/>
              </a:ext>
            </a:extLst>
          </p:cNvPr>
          <p:cNvPicPr>
            <a:picLocks noChangeAspect="1"/>
          </p:cNvPicPr>
          <p:nvPr/>
        </p:nvPicPr>
        <p:blipFill>
          <a:blip r:embed="rId2"/>
          <a:srcRect t="9419" b="4880"/>
          <a:stretch>
            <a:fillRect/>
          </a:stretch>
        </p:blipFill>
        <p:spPr>
          <a:xfrm>
            <a:off x="1166257" y="1052512"/>
            <a:ext cx="9859485" cy="4752975"/>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600DCD-F486-0709-790D-2E59FF874A4B}"/>
              </a:ext>
            </a:extLst>
          </p:cNvPr>
          <p:cNvSpPr txBox="1"/>
          <p:nvPr/>
        </p:nvSpPr>
        <p:spPr>
          <a:xfrm>
            <a:off x="557634" y="493067"/>
            <a:ext cx="28165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DEPLOYMENT:</a:t>
            </a:r>
            <a:endParaRPr lang="en-US" dirty="0"/>
          </a:p>
        </p:txBody>
      </p:sp>
      <p:pic>
        <p:nvPicPr>
          <p:cNvPr id="5" name="Picture 4">
            <a:extLst>
              <a:ext uri="{FF2B5EF4-FFF2-40B4-BE49-F238E27FC236}">
                <a16:creationId xmlns:a16="http://schemas.microsoft.com/office/drawing/2014/main" id="{F8C956C7-152C-85D9-879E-57D4EAE87130}"/>
              </a:ext>
            </a:extLst>
          </p:cNvPr>
          <p:cNvPicPr>
            <a:picLocks noChangeAspect="1"/>
          </p:cNvPicPr>
          <p:nvPr/>
        </p:nvPicPr>
        <p:blipFill>
          <a:blip r:embed="rId2"/>
          <a:srcRect t="7149" b="7149"/>
          <a:stretch/>
        </p:blipFill>
        <p:spPr>
          <a:xfrm>
            <a:off x="1190625" y="1600882"/>
            <a:ext cx="9403625" cy="4533218"/>
          </a:xfrm>
          <a:prstGeom prst="rect">
            <a:avLst/>
          </a:prstGeom>
        </p:spPr>
      </p:pic>
      <p:sp>
        <p:nvSpPr>
          <p:cNvPr id="6" name="TextBox 5">
            <a:extLst>
              <a:ext uri="{FF2B5EF4-FFF2-40B4-BE49-F238E27FC236}">
                <a16:creationId xmlns:a16="http://schemas.microsoft.com/office/drawing/2014/main" id="{48333FF5-B662-45ED-E23C-C6A50DE344FA}"/>
              </a:ext>
            </a:extLst>
          </p:cNvPr>
          <p:cNvSpPr txBox="1"/>
          <p:nvPr/>
        </p:nvSpPr>
        <p:spPr>
          <a:xfrm>
            <a:off x="1190625" y="1143000"/>
            <a:ext cx="8258175" cy="307777"/>
          </a:xfrm>
          <a:prstGeom prst="rect">
            <a:avLst/>
          </a:prstGeom>
          <a:noFill/>
        </p:spPr>
        <p:txBody>
          <a:bodyPr wrap="square" rtlCol="0">
            <a:spAutoFit/>
          </a:bodyPr>
          <a:lstStyle/>
          <a:p>
            <a:r>
              <a:rPr lang="en-US" dirty="0"/>
              <a:t>LINK : </a:t>
            </a:r>
            <a:r>
              <a:rPr lang="en-US" dirty="0">
                <a:hlinkClick r:id="rId3"/>
              </a:rPr>
              <a:t> https://ibm-ml-project.onrender.com/</a:t>
            </a:r>
            <a:endParaRPr lang="en-IN" dirty="0"/>
          </a:p>
        </p:txBody>
      </p:sp>
    </p:spTree>
    <p:extLst>
      <p:ext uri="{BB962C8B-B14F-4D97-AF65-F5344CB8AC3E}">
        <p14:creationId xmlns:p14="http://schemas.microsoft.com/office/powerpoint/2010/main" val="1704022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D09C-BE6D-BE0E-8A0E-72FEDEB4C7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50ADF0-3B47-F62D-B6F1-82EAC28F7C4B}"/>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AFTER DEPLOYMENT OUTPUT &amp; PROMPT:</a:t>
            </a:r>
            <a:endParaRPr lang="en-US" dirty="0"/>
          </a:p>
        </p:txBody>
      </p:sp>
      <p:pic>
        <p:nvPicPr>
          <p:cNvPr id="5" name="Picture 4">
            <a:extLst>
              <a:ext uri="{FF2B5EF4-FFF2-40B4-BE49-F238E27FC236}">
                <a16:creationId xmlns:a16="http://schemas.microsoft.com/office/drawing/2014/main" id="{405B2899-3299-B255-B603-146D33B2C0B2}"/>
              </a:ext>
            </a:extLst>
          </p:cNvPr>
          <p:cNvPicPr>
            <a:picLocks noChangeAspect="1"/>
          </p:cNvPicPr>
          <p:nvPr/>
        </p:nvPicPr>
        <p:blipFill>
          <a:blip r:embed="rId2"/>
          <a:srcRect t="7149" b="7149"/>
          <a:stretch/>
        </p:blipFill>
        <p:spPr>
          <a:xfrm>
            <a:off x="1394187" y="1372282"/>
            <a:ext cx="9403625" cy="4533218"/>
          </a:xfrm>
          <a:prstGeom prst="rect">
            <a:avLst/>
          </a:prstGeom>
        </p:spPr>
      </p:pic>
    </p:spTree>
    <p:extLst>
      <p:ext uri="{BB962C8B-B14F-4D97-AF65-F5344CB8AC3E}">
        <p14:creationId xmlns:p14="http://schemas.microsoft.com/office/powerpoint/2010/main" val="2782082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03F8-D42A-4E35-14A5-D482E18348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9AC4F5-E69E-347E-28C9-1066592D7D36}"/>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AFTER DEPLOYMENT OUTPUT &amp; PROMPT:</a:t>
            </a:r>
            <a:endParaRPr lang="en-US" dirty="0"/>
          </a:p>
        </p:txBody>
      </p:sp>
      <p:pic>
        <p:nvPicPr>
          <p:cNvPr id="5" name="Picture 4">
            <a:extLst>
              <a:ext uri="{FF2B5EF4-FFF2-40B4-BE49-F238E27FC236}">
                <a16:creationId xmlns:a16="http://schemas.microsoft.com/office/drawing/2014/main" id="{A75F854A-22E0-A624-5C47-94AA3F6446D1}"/>
              </a:ext>
            </a:extLst>
          </p:cNvPr>
          <p:cNvPicPr>
            <a:picLocks noChangeAspect="1"/>
          </p:cNvPicPr>
          <p:nvPr/>
        </p:nvPicPr>
        <p:blipFill>
          <a:blip r:embed="rId2"/>
          <a:srcRect t="7149" b="7149"/>
          <a:stretch/>
        </p:blipFill>
        <p:spPr>
          <a:xfrm>
            <a:off x="1394187" y="1372282"/>
            <a:ext cx="9403625" cy="4533218"/>
          </a:xfrm>
          <a:prstGeom prst="rect">
            <a:avLst/>
          </a:prstGeom>
        </p:spPr>
      </p:pic>
    </p:spTree>
    <p:extLst>
      <p:ext uri="{BB962C8B-B14F-4D97-AF65-F5344CB8AC3E}">
        <p14:creationId xmlns:p14="http://schemas.microsoft.com/office/powerpoint/2010/main" val="1074700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1442-142A-1F67-13C7-76F891C2DD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CE782C-300E-6CD5-7D04-92F2A8810816}"/>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AFTER DEPLOYMENT OUTPUT &amp; PROMPT:</a:t>
            </a:r>
            <a:endParaRPr lang="en-US" dirty="0"/>
          </a:p>
        </p:txBody>
      </p:sp>
      <p:pic>
        <p:nvPicPr>
          <p:cNvPr id="5" name="Picture 4">
            <a:extLst>
              <a:ext uri="{FF2B5EF4-FFF2-40B4-BE49-F238E27FC236}">
                <a16:creationId xmlns:a16="http://schemas.microsoft.com/office/drawing/2014/main" id="{87DA8EF8-B452-C850-5B3F-350C4D1D9035}"/>
              </a:ext>
            </a:extLst>
          </p:cNvPr>
          <p:cNvPicPr>
            <a:picLocks noChangeAspect="1"/>
          </p:cNvPicPr>
          <p:nvPr/>
        </p:nvPicPr>
        <p:blipFill>
          <a:blip r:embed="rId2"/>
          <a:srcRect t="7149" b="7149"/>
          <a:stretch/>
        </p:blipFill>
        <p:spPr>
          <a:xfrm>
            <a:off x="1394187" y="1372282"/>
            <a:ext cx="9403625" cy="4533218"/>
          </a:xfrm>
          <a:prstGeom prst="rect">
            <a:avLst/>
          </a:prstGeom>
        </p:spPr>
      </p:pic>
    </p:spTree>
    <p:extLst>
      <p:ext uri="{BB962C8B-B14F-4D97-AF65-F5344CB8AC3E}">
        <p14:creationId xmlns:p14="http://schemas.microsoft.com/office/powerpoint/2010/main" val="302650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A4D6E-5F60-A982-7C9A-166128795D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43B7B7-A27E-BC57-C706-0B7600635D76}"/>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AFTER DEPLOYMENT OUTPUT &amp; PROMPT:</a:t>
            </a:r>
            <a:endParaRPr lang="en-US" dirty="0"/>
          </a:p>
        </p:txBody>
      </p:sp>
      <p:pic>
        <p:nvPicPr>
          <p:cNvPr id="4" name="Picture 3">
            <a:extLst>
              <a:ext uri="{FF2B5EF4-FFF2-40B4-BE49-F238E27FC236}">
                <a16:creationId xmlns:a16="http://schemas.microsoft.com/office/drawing/2014/main" id="{ADE76B67-D495-151F-F02C-9DF54C6F4628}"/>
              </a:ext>
            </a:extLst>
          </p:cNvPr>
          <p:cNvPicPr>
            <a:picLocks noChangeAspect="1"/>
          </p:cNvPicPr>
          <p:nvPr/>
        </p:nvPicPr>
        <p:blipFill>
          <a:blip r:embed="rId2"/>
          <a:stretch>
            <a:fillRect/>
          </a:stretch>
        </p:blipFill>
        <p:spPr>
          <a:xfrm>
            <a:off x="727633" y="1128712"/>
            <a:ext cx="2840438" cy="4600576"/>
          </a:xfrm>
          <a:prstGeom prst="rect">
            <a:avLst/>
          </a:prstGeom>
        </p:spPr>
      </p:pic>
      <p:pic>
        <p:nvPicPr>
          <p:cNvPr id="7" name="Picture 6">
            <a:extLst>
              <a:ext uri="{FF2B5EF4-FFF2-40B4-BE49-F238E27FC236}">
                <a16:creationId xmlns:a16="http://schemas.microsoft.com/office/drawing/2014/main" id="{FDB20CAB-63E3-3278-28E1-5E03A6A0E44A}"/>
              </a:ext>
            </a:extLst>
          </p:cNvPr>
          <p:cNvPicPr>
            <a:picLocks noChangeAspect="1"/>
          </p:cNvPicPr>
          <p:nvPr/>
        </p:nvPicPr>
        <p:blipFill>
          <a:blip r:embed="rId3"/>
          <a:stretch>
            <a:fillRect/>
          </a:stretch>
        </p:blipFill>
        <p:spPr>
          <a:xfrm>
            <a:off x="8061956" y="2127520"/>
            <a:ext cx="3200924" cy="2336259"/>
          </a:xfrm>
          <a:prstGeom prst="rect">
            <a:avLst/>
          </a:prstGeom>
        </p:spPr>
      </p:pic>
      <p:sp>
        <p:nvSpPr>
          <p:cNvPr id="8" name="TextBox 7">
            <a:extLst>
              <a:ext uri="{FF2B5EF4-FFF2-40B4-BE49-F238E27FC236}">
                <a16:creationId xmlns:a16="http://schemas.microsoft.com/office/drawing/2014/main" id="{6FFE5B12-C8E8-DD67-DBFA-92F1230C1D0C}"/>
              </a:ext>
            </a:extLst>
          </p:cNvPr>
          <p:cNvSpPr txBox="1"/>
          <p:nvPr/>
        </p:nvSpPr>
        <p:spPr>
          <a:xfrm>
            <a:off x="4514852" y="2794270"/>
            <a:ext cx="3114675" cy="738664"/>
          </a:xfrm>
          <a:prstGeom prst="rect">
            <a:avLst/>
          </a:prstGeom>
          <a:noFill/>
        </p:spPr>
        <p:txBody>
          <a:bodyPr wrap="square" rtlCol="0">
            <a:spAutoFit/>
          </a:bodyPr>
          <a:lstStyle/>
          <a:p>
            <a:r>
              <a:rPr lang="en-US" dirty="0"/>
              <a:t>Machine type based + sensor readings-based analysis and fault detection</a:t>
            </a:r>
            <a:endParaRPr lang="en-IN" dirty="0"/>
          </a:p>
        </p:txBody>
      </p:sp>
    </p:spTree>
    <p:extLst>
      <p:ext uri="{BB962C8B-B14F-4D97-AF65-F5344CB8AC3E}">
        <p14:creationId xmlns:p14="http://schemas.microsoft.com/office/powerpoint/2010/main" val="2918682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4662-F074-E550-071E-D973E3E277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3B9550-547D-A4BE-2E03-FA4F57138806}"/>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IBM BOB SCREENSHOTS:</a:t>
            </a:r>
            <a:endParaRPr lang="en-US" dirty="0"/>
          </a:p>
        </p:txBody>
      </p:sp>
      <p:pic>
        <p:nvPicPr>
          <p:cNvPr id="5" name="Picture 4">
            <a:extLst>
              <a:ext uri="{FF2B5EF4-FFF2-40B4-BE49-F238E27FC236}">
                <a16:creationId xmlns:a16="http://schemas.microsoft.com/office/drawing/2014/main" id="{EC3E0EDE-814A-E082-23C0-CC5C927D736E}"/>
              </a:ext>
            </a:extLst>
          </p:cNvPr>
          <p:cNvPicPr>
            <a:picLocks noChangeAspect="1"/>
          </p:cNvPicPr>
          <p:nvPr/>
        </p:nvPicPr>
        <p:blipFill>
          <a:blip r:embed="rId2"/>
          <a:srcRect t="7149" b="7149"/>
          <a:stretch/>
        </p:blipFill>
        <p:spPr>
          <a:xfrm>
            <a:off x="1394187" y="1372282"/>
            <a:ext cx="9403625" cy="4533218"/>
          </a:xfrm>
          <a:prstGeom prst="rect">
            <a:avLst/>
          </a:prstGeom>
        </p:spPr>
      </p:pic>
    </p:spTree>
    <p:extLst>
      <p:ext uri="{BB962C8B-B14F-4D97-AF65-F5344CB8AC3E}">
        <p14:creationId xmlns:p14="http://schemas.microsoft.com/office/powerpoint/2010/main" val="3100452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58451-0DCE-BDF8-736A-D6DCE09DA7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240E89-24E5-679C-BCF3-4E5969D10AE9}"/>
              </a:ext>
            </a:extLst>
          </p:cNvPr>
          <p:cNvSpPr txBox="1"/>
          <p:nvPr/>
        </p:nvSpPr>
        <p:spPr>
          <a:xfrm>
            <a:off x="557634" y="493067"/>
            <a:ext cx="56621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alibri"/>
              </a:rPr>
              <a:t>IBM BOB SCREENSHOTS:</a:t>
            </a:r>
            <a:endParaRPr lang="en-US" dirty="0"/>
          </a:p>
        </p:txBody>
      </p:sp>
      <p:pic>
        <p:nvPicPr>
          <p:cNvPr id="5" name="Picture 4">
            <a:extLst>
              <a:ext uri="{FF2B5EF4-FFF2-40B4-BE49-F238E27FC236}">
                <a16:creationId xmlns:a16="http://schemas.microsoft.com/office/drawing/2014/main" id="{E0185314-0E89-56D3-D684-9AE4C404E7CD}"/>
              </a:ext>
            </a:extLst>
          </p:cNvPr>
          <p:cNvPicPr>
            <a:picLocks noChangeAspect="1"/>
          </p:cNvPicPr>
          <p:nvPr/>
        </p:nvPicPr>
        <p:blipFill>
          <a:blip r:embed="rId2"/>
          <a:srcRect t="7149" b="7149"/>
          <a:stretch/>
        </p:blipFill>
        <p:spPr>
          <a:xfrm>
            <a:off x="1394187" y="1372282"/>
            <a:ext cx="9403625" cy="4533218"/>
          </a:xfrm>
          <a:prstGeom prst="rect">
            <a:avLst/>
          </a:prstGeom>
        </p:spPr>
      </p:pic>
    </p:spTree>
    <p:extLst>
      <p:ext uri="{BB962C8B-B14F-4D97-AF65-F5344CB8AC3E}">
        <p14:creationId xmlns:p14="http://schemas.microsoft.com/office/powerpoint/2010/main" val="1624875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330990"/>
            <a:ext cx="10769628" cy="4559646"/>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IN" sz="1600" b="1" dirty="0"/>
              <a:t>IBM </a:t>
            </a:r>
            <a:r>
              <a:rPr lang="en-IN" sz="1600" b="1" dirty="0" err="1"/>
              <a:t>Watsonx</a:t>
            </a:r>
            <a:r>
              <a:rPr lang="en-IN" sz="1600" b="1" dirty="0"/>
              <a:t> Granite-powered</a:t>
            </a:r>
            <a:r>
              <a:rPr lang="en-IN" sz="1600" dirty="0"/>
              <a:t> — uses enterprise-grade granite-3-8b-instruct LLM, not a generic chatbot, trained for precise technical reasoning.</a:t>
            </a:r>
          </a:p>
          <a:p>
            <a:pPr marL="285750" indent="-285750">
              <a:lnSpc>
                <a:spcPct val="150000"/>
              </a:lnSpc>
              <a:buFont typeface="Arial" panose="020B0604020202020204" pitchFamily="34" charset="0"/>
              <a:buChar char="•"/>
            </a:pPr>
            <a:r>
              <a:rPr lang="en-IN" sz="1600" b="1" dirty="0"/>
              <a:t>Safety-first by design</a:t>
            </a:r>
            <a:r>
              <a:rPr lang="en-IN" sz="1600" dirty="0"/>
              <a:t> — every single response </a:t>
            </a:r>
            <a:r>
              <a:rPr lang="en-IN" sz="1600" i="1" dirty="0"/>
              <a:t>always</a:t>
            </a:r>
            <a:r>
              <a:rPr lang="en-IN" sz="1600" dirty="0"/>
              <a:t> includes LOTO, PPE, and zero-energy verification instructions before any repair step, hardcoded via AGENT_INSTRUCTIONS.</a:t>
            </a:r>
          </a:p>
          <a:p>
            <a:pPr marL="285750" indent="-285750">
              <a:lnSpc>
                <a:spcPct val="150000"/>
              </a:lnSpc>
              <a:buFont typeface="Arial" panose="020B0604020202020204" pitchFamily="34" charset="0"/>
              <a:buChar char="•"/>
            </a:pPr>
            <a:r>
              <a:rPr lang="en-IN" sz="1600" b="1" dirty="0"/>
              <a:t>Sensor-aware diagnosis</a:t>
            </a:r>
            <a:r>
              <a:rPr lang="en-IN" sz="1600" dirty="0"/>
              <a:t> — accepts live numeric readings (temperature, vibration, pressure, current) and converts them directly into a structured AI fault analysis.</a:t>
            </a:r>
          </a:p>
          <a:p>
            <a:pPr marL="285750" indent="-285750">
              <a:lnSpc>
                <a:spcPct val="150000"/>
              </a:lnSpc>
              <a:buFont typeface="Arial" panose="020B0604020202020204" pitchFamily="34" charset="0"/>
              <a:buChar char="•"/>
            </a:pPr>
            <a:r>
              <a:rPr lang="en-IN" sz="1600" b="1" dirty="0"/>
              <a:t>Full repair lifecycle in one reply</a:t>
            </a:r>
            <a:r>
              <a:rPr lang="en-IN" sz="1600" dirty="0"/>
              <a:t> — diagnoses the fault, gives step-by-step repair instructions, recommends spare parts, </a:t>
            </a:r>
            <a:r>
              <a:rPr lang="en-IN" sz="1600" i="1" dirty="0"/>
              <a:t>and</a:t>
            </a:r>
            <a:r>
              <a:rPr lang="en-IN" sz="1600" dirty="0"/>
              <a:t> generates a preventive maintenance schedule, all in a single response.</a:t>
            </a:r>
          </a:p>
          <a:p>
            <a:pPr marL="285750" indent="-285750">
              <a:lnSpc>
                <a:spcPct val="150000"/>
              </a:lnSpc>
              <a:buFont typeface="Arial" panose="020B0604020202020204" pitchFamily="34" charset="0"/>
              <a:buChar char="•"/>
            </a:pPr>
            <a:r>
              <a:rPr lang="en-IN" sz="1600" b="1" dirty="0"/>
              <a:t>Customisable agent behaviour without touching AI code</a:t>
            </a:r>
            <a:r>
              <a:rPr lang="en-IN" sz="1600" dirty="0"/>
              <a:t> — tone, safety rules, repair preferences, and response format are all controlled from one AGENT_INSTRUCTIONS block at the top of app.py, no prompt engineering expertise needed.</a:t>
            </a:r>
            <a:br>
              <a:rPr lang="en-IN" sz="1600" dirty="0"/>
            </a:b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000000"/>
                </a:solidFill>
                <a:latin typeface="Times New Roman"/>
                <a:ea typeface="Times New Roman"/>
                <a:cs typeface="Times New Roman"/>
                <a:sym typeface="Times New Roman"/>
              </a:rPr>
              <a:t>GITHUB URL : </a:t>
            </a:r>
            <a:r>
              <a:rPr lang="en-US" sz="1850" b="0" i="0" u="none" strike="noStrike" cap="none" dirty="0">
                <a:solidFill>
                  <a:srgbClr val="000000"/>
                </a:solidFill>
                <a:latin typeface="Times New Roman"/>
                <a:ea typeface="Times New Roman"/>
                <a:cs typeface="Times New Roman"/>
                <a:sym typeface="Times New Roman"/>
                <a:hlinkClick r:id="rId3"/>
              </a:rPr>
              <a:t>https://github.com/shubham20387/IBM-ML-project</a:t>
            </a:r>
            <a:endParaRPr lang="en-US" sz="1850" b="0" i="0" u="none" strike="noStrike" cap="none" dirty="0">
              <a:solidFill>
                <a:srgbClr val="000000"/>
              </a:solidFill>
              <a:latin typeface="Times New Roman"/>
              <a:ea typeface="Times New Roman"/>
              <a:cs typeface="Times New Roman"/>
              <a:sym typeface="Times New Roman"/>
            </a:endParaRPr>
          </a:p>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DEPLOYMENT LINK :</a:t>
            </a:r>
            <a:r>
              <a:rPr lang="en-US" sz="2000" dirty="0"/>
              <a:t> </a:t>
            </a:r>
            <a:r>
              <a:rPr lang="en-US" sz="2000" dirty="0">
                <a:hlinkClick r:id="rId4"/>
              </a:rPr>
              <a:t> https://ibm-ml-project.onrender.com/</a:t>
            </a:r>
            <a:endParaRPr lang="en-US" sz="2000" dirty="0"/>
          </a:p>
          <a:p>
            <a:pPr lvl="0">
              <a:lnSpc>
                <a:spcPct val="162162"/>
              </a:lnSpc>
              <a:buClr>
                <a:srgbClr val="2B3541"/>
              </a:buClr>
              <a:buSzPts val="1850"/>
            </a:pP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Uploaded on </a:t>
            </a:r>
            <a:r>
              <a:rPr lang="en-US" sz="1850" b="0" i="0" u="none" strike="noStrike" cap="none" dirty="0" err="1">
                <a:solidFill>
                  <a:srgbClr val="000000"/>
                </a:solidFill>
                <a:latin typeface="Times New Roman"/>
                <a:ea typeface="Times New Roman"/>
                <a:cs typeface="Times New Roman"/>
                <a:sym typeface="Times New Roman"/>
              </a:rPr>
              <a:t>github</a:t>
            </a:r>
            <a:endParaRPr lang="en-US" sz="1850" b="0" i="0" u="none" strike="noStrike" cap="none" dirty="0">
              <a:solidFill>
                <a:srgbClr val="000000"/>
              </a:solidFill>
              <a:latin typeface="Times New Roman"/>
              <a:ea typeface="Times New Roman"/>
              <a:cs typeface="Times New Roman"/>
              <a:sym typeface="Times New Roman"/>
            </a:endParaRPr>
          </a:p>
          <a:p>
            <a:pPr marL="457200" lvl="0" indent="-457200">
              <a:lnSpc>
                <a:spcPct val="162162"/>
              </a:lnSpc>
              <a:buClr>
                <a:srgbClr val="2B3541"/>
              </a:buClr>
              <a:buSzPts val="1850"/>
              <a:buAutoNum type="arabicPeriod"/>
            </a:pPr>
            <a:r>
              <a:rPr lang="en-US" sz="1850" dirty="0">
                <a:latin typeface="Times New Roman"/>
                <a:ea typeface="Times New Roman"/>
                <a:cs typeface="Times New Roman"/>
                <a:sym typeface="Times New Roman"/>
              </a:rPr>
              <a:t>Project PPT</a:t>
            </a:r>
          </a:p>
          <a:p>
            <a:pPr marL="457200" lvl="0" indent="-457200">
              <a:lnSpc>
                <a:spcPct val="162162"/>
              </a:lnSpc>
              <a:buClr>
                <a:srgbClr val="2B3541"/>
              </a:buClr>
              <a:buSzPts val="1850"/>
              <a:buAutoNum type="arabicPeriod"/>
            </a:pPr>
            <a:r>
              <a:rPr lang="en-US" sz="1850" b="0" i="0" u="none" strike="noStrike" cap="none" dirty="0">
                <a:solidFill>
                  <a:srgbClr val="000000"/>
                </a:solidFill>
                <a:latin typeface="Times New Roman"/>
                <a:ea typeface="Times New Roman"/>
                <a:cs typeface="Times New Roman"/>
                <a:sym typeface="Times New Roman"/>
              </a:rPr>
              <a:t>Problem statement pdf</a:t>
            </a:r>
          </a:p>
          <a:p>
            <a:pPr marL="457200" lvl="0" indent="-457200">
              <a:lnSpc>
                <a:spcPct val="162162"/>
              </a:lnSpc>
              <a:buClr>
                <a:srgbClr val="2B3541"/>
              </a:buClr>
              <a:buSzPts val="1850"/>
              <a:buAutoNum type="arabicPeriod"/>
            </a:pPr>
            <a:r>
              <a:rPr lang="en-US" sz="1850" dirty="0">
                <a:latin typeface="Times New Roman"/>
                <a:ea typeface="Times New Roman"/>
                <a:cs typeface="Times New Roman"/>
                <a:sym typeface="Times New Roman"/>
              </a:rPr>
              <a:t>Dataset</a:t>
            </a:r>
          </a:p>
          <a:p>
            <a:pPr marL="457200" lvl="0" indent="-457200">
              <a:lnSpc>
                <a:spcPct val="162162"/>
              </a:lnSpc>
              <a:buClr>
                <a:srgbClr val="2B3541"/>
              </a:buClr>
              <a:buSzPts val="1850"/>
              <a:buAutoNum type="arabicPeriod"/>
            </a:pPr>
            <a:r>
              <a:rPr lang="en-US" sz="1850" dirty="0">
                <a:latin typeface="Times New Roman"/>
                <a:ea typeface="Times New Roman"/>
                <a:cs typeface="Times New Roman"/>
                <a:sym typeface="Times New Roman"/>
              </a:rPr>
              <a:t>.env file and etc.</a:t>
            </a:r>
            <a:endParaRPr lang="en-US"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99062"/>
            <a:ext cx="10458926" cy="4277001"/>
          </a:xfrm>
          <a:prstGeom prst="rect">
            <a:avLst/>
          </a:prstGeom>
          <a:noFill/>
          <a:ln>
            <a:noFill/>
          </a:ln>
        </p:spPr>
        <p:txBody>
          <a:bodyPr spcFirstLastPara="1" wrap="square" lIns="0" tIns="0" rIns="0" bIns="0" anchor="t" anchorCtr="0">
            <a:noAutofit/>
          </a:bodyPr>
          <a:lstStyle/>
          <a:p>
            <a:pPr marL="342900" indent="-342900">
              <a:lnSpc>
                <a:spcPct val="150000"/>
              </a:lnSpc>
              <a:buFont typeface="Arial" panose="020B0604020202020204" pitchFamily="34" charset="0"/>
              <a:buChar char="•"/>
            </a:pPr>
            <a:r>
              <a:rPr lang="en-IN" sz="1800" b="1" dirty="0"/>
              <a:t>Edge AI Deployment:</a:t>
            </a:r>
            <a:r>
              <a:rPr lang="en-IN" sz="1800" dirty="0"/>
              <a:t> Integrating the trained models directly onto localized edge computing devices for real-time, low-latency fault prediction without relying on constant cloud connectivity.</a:t>
            </a:r>
          </a:p>
          <a:p>
            <a:pPr marL="342900" indent="-342900">
              <a:lnSpc>
                <a:spcPct val="150000"/>
              </a:lnSpc>
              <a:buFont typeface="Arial" panose="020B0604020202020204" pitchFamily="34" charset="0"/>
              <a:buChar char="•"/>
            </a:pPr>
            <a:r>
              <a:rPr lang="en-IN" sz="1800" b="1" dirty="0"/>
              <a:t>Prescriptive Maintenance Action:</a:t>
            </a:r>
            <a:r>
              <a:rPr lang="en-IN" sz="1800" dirty="0"/>
              <a:t> Advancing the system from predicting failures to automatically recommending specific troubleshooting steps and auto-generating repair work orders.</a:t>
            </a:r>
          </a:p>
          <a:p>
            <a:pPr marL="342900" indent="-342900">
              <a:lnSpc>
                <a:spcPct val="150000"/>
              </a:lnSpc>
              <a:buFont typeface="Arial" panose="020B0604020202020204" pitchFamily="34" charset="0"/>
              <a:buChar char="•"/>
            </a:pPr>
            <a:r>
              <a:rPr lang="en-IN" sz="1800" b="1" dirty="0"/>
              <a:t>Digital Twin Synchronization:</a:t>
            </a:r>
            <a:r>
              <a:rPr lang="en-IN" sz="1800" dirty="0"/>
              <a:t> Integrating the machine learning models into a fully dynamic 3D digital twin of the factory floor to simulate operational stress and visualize degradation in real-time.</a:t>
            </a:r>
          </a:p>
          <a:p>
            <a:pPr marL="342900" indent="-342900">
              <a:lnSpc>
                <a:spcPct val="150000"/>
              </a:lnSpc>
              <a:buFont typeface="Arial" panose="020B0604020202020204" pitchFamily="34" charset="0"/>
              <a:buChar char="•"/>
            </a:pPr>
            <a:r>
              <a:rPr lang="en-IN" sz="1800" b="1" dirty="0"/>
              <a:t>Cross-Fleet Transfer Learning:</a:t>
            </a:r>
            <a:r>
              <a:rPr lang="en-IN" sz="1800" dirty="0"/>
              <a:t> Applying knowledge gained from existing machinery to newly installed equipment with minimal historical data, accelerating system deployment and accuracy.</a:t>
            </a:r>
          </a:p>
          <a:p>
            <a:pPr marL="342900" indent="-342900">
              <a:lnSpc>
                <a:spcPct val="150000"/>
              </a:lnSpc>
              <a:buFont typeface="Arial" panose="020B0604020202020204" pitchFamily="34" charset="0"/>
              <a:buChar char="•"/>
            </a:pPr>
            <a:r>
              <a:rPr lang="en-IN" sz="1800" b="1" dirty="0"/>
              <a:t>Automated Supply Chain Integration:</a:t>
            </a:r>
            <a:r>
              <a:rPr lang="en-IN" sz="1800" dirty="0"/>
              <a:t> Linking predictive failure insights directly with inventory management systems to autonomously order replacement parts before a component actually breaks down.</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884615" y="1015711"/>
            <a:ext cx="6422769" cy="482657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384" r="2384"/>
          <a:stretch/>
        </p:blipFill>
        <p:spPr>
          <a:xfrm>
            <a:off x="2507223" y="1099711"/>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2506610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EA648-E348-25FB-4911-6930DE82F0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BBA48A-CE54-AE82-07BE-1BE6CCB42276}"/>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56AAA3EA-D917-70C4-40CC-12D18A61905B}"/>
              </a:ext>
            </a:extLst>
          </p:cNvPr>
          <p:cNvPicPr>
            <a:picLocks noChangeAspect="1"/>
          </p:cNvPicPr>
          <p:nvPr/>
        </p:nvPicPr>
        <p:blipFill>
          <a:blip r:embed="rId2"/>
          <a:stretch>
            <a:fillRect/>
          </a:stretch>
        </p:blipFill>
        <p:spPr>
          <a:xfrm>
            <a:off x="2745704" y="770328"/>
            <a:ext cx="7053984" cy="5317343"/>
          </a:xfrm>
          <a:prstGeom prst="rect">
            <a:avLst/>
          </a:prstGeom>
        </p:spPr>
      </p:pic>
    </p:spTree>
    <p:extLst>
      <p:ext uri="{BB962C8B-B14F-4D97-AF65-F5344CB8AC3E}">
        <p14:creationId xmlns:p14="http://schemas.microsoft.com/office/powerpoint/2010/main" val="2508761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08814-485A-38D3-57CB-544823340EE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215C4F-13A1-DF61-AB58-8A58008E64D1}"/>
              </a:ext>
            </a:extLst>
          </p:cNvPr>
          <p:cNvSpPr txBox="1"/>
          <p:nvPr/>
        </p:nvSpPr>
        <p:spPr>
          <a:xfrm>
            <a:off x="262421" y="426416"/>
            <a:ext cx="252840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STUDENT DETAILS:</a:t>
            </a:r>
          </a:p>
        </p:txBody>
      </p:sp>
      <p:sp>
        <p:nvSpPr>
          <p:cNvPr id="2" name="TextBox 1">
            <a:extLst>
              <a:ext uri="{FF2B5EF4-FFF2-40B4-BE49-F238E27FC236}">
                <a16:creationId xmlns:a16="http://schemas.microsoft.com/office/drawing/2014/main" id="{6A642E45-0FFA-F804-1BBD-397FA9C04C4F}"/>
              </a:ext>
            </a:extLst>
          </p:cNvPr>
          <p:cNvSpPr txBox="1"/>
          <p:nvPr/>
        </p:nvSpPr>
        <p:spPr>
          <a:xfrm>
            <a:off x="981075" y="1266825"/>
            <a:ext cx="7019925" cy="1169551"/>
          </a:xfrm>
          <a:prstGeom prst="rect">
            <a:avLst/>
          </a:prstGeom>
          <a:noFill/>
        </p:spPr>
        <p:txBody>
          <a:bodyPr wrap="square" rtlCol="0">
            <a:spAutoFit/>
          </a:bodyPr>
          <a:lstStyle/>
          <a:p>
            <a:r>
              <a:rPr lang="en-US" dirty="0"/>
              <a:t>Name : Shubhamkumar Patil</a:t>
            </a:r>
          </a:p>
          <a:p>
            <a:r>
              <a:rPr lang="en-US" dirty="0"/>
              <a:t>Email : </a:t>
            </a:r>
            <a:r>
              <a:rPr lang="en-US" dirty="0">
                <a:hlinkClick r:id="rId2"/>
              </a:rPr>
              <a:t>shubham20387@gmail.com</a:t>
            </a:r>
            <a:endParaRPr lang="en-US" dirty="0"/>
          </a:p>
          <a:p>
            <a:r>
              <a:rPr lang="en-US" dirty="0"/>
              <a:t>PRN : 202501080224</a:t>
            </a:r>
          </a:p>
          <a:p>
            <a:endParaRPr lang="en-US" dirty="0"/>
          </a:p>
          <a:p>
            <a:r>
              <a:rPr lang="en-US" dirty="0"/>
              <a:t>AICTE ID : </a:t>
            </a:r>
            <a:r>
              <a:rPr lang="en-IN" dirty="0"/>
              <a:t>STU6a1556780481d1779783288</a:t>
            </a:r>
          </a:p>
        </p:txBody>
      </p:sp>
    </p:spTree>
    <p:extLst>
      <p:ext uri="{BB962C8B-B14F-4D97-AF65-F5344CB8AC3E}">
        <p14:creationId xmlns:p14="http://schemas.microsoft.com/office/powerpoint/2010/main" val="455251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814</Words>
  <Application>Microsoft Office PowerPoint</Application>
  <PresentationFormat>Widescreen</PresentationFormat>
  <Paragraphs>79</Paragraphs>
  <Slides>25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Shubhamkumar Patil</cp:lastModifiedBy>
  <cp:revision>11</cp:revision>
  <dcterms:created xsi:type="dcterms:W3CDTF">2025-07-08T05:06:56Z</dcterms:created>
  <dcterms:modified xsi:type="dcterms:W3CDTF">2026-07-09T12:29:39Z</dcterms:modified>
</cp:coreProperties>
</file>