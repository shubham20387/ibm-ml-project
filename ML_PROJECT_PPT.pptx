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79" r:id="rId7"/>
    <p:sldId id="292" r:id="rId8"/>
    <p:sldId id="262" r:id="rId9"/>
    <p:sldId id="290" r:id="rId10"/>
    <p:sldId id="291"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746EE066-C99A-1548-0111-A8297267F854}" v="733" dt="2026-06-19T08:10:03.439"/>
    <p1510:client id="{86BCD85A-7972-A6FD-263D-01F0C6DCFF46}" v="8" dt="2026-06-19T08:02:34.666"/>
    <p1510:client id="{A6B9108B-7598-1D50-C4AA-8A38026DAEEF}" v="18" dt="2026-06-19T06:56:18.840"/>
    <p1510:client id="{F65B29D0-DD12-DDC3-5CE1-E2A91AABFDBA}" v="57" dt="2026-06-19T08:09:53.82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8" d="100"/>
          <a:sy n="88" d="100"/>
        </p:scale>
        <p:origin x="827" y="7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45DFC45A-0E92-6CFD-3DD2-FCAF51E7292A}"/>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7CC08EBA-9ABE-143C-83D9-96B7EA3773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FAF0CCF8-9E01-C17F-172C-7CEC8F0308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60421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hubham20387/IBM-ML-projec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01226830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r>
                        <a:rPr lang="en-IN" dirty="0"/>
                        <a:t>Shubhamkumar Patil</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sz="180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dirty="0"/>
                        <a:t>shubham20387@gmail.com</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dirty="0"/>
                        <a:t>9860697631</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alphaModFix/>
          </a:blip>
          <a:srcRect l="14003" r="8600" b="13881"/>
          <a:stretch>
            <a:fillRect/>
          </a:stretch>
        </p:blipFill>
        <p:spPr>
          <a:xfrm>
            <a:off x="4152901" y="3738417"/>
            <a:ext cx="809624" cy="886183"/>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dirty="0"/>
              <a:t>Industry</a:t>
            </a:r>
            <a:endParaRPr lang="en-IN" sz="2400"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523220"/>
          </a:xfrm>
          <a:prstGeom prst="rect">
            <a:avLst/>
          </a:prstGeom>
          <a:noFill/>
        </p:spPr>
        <p:txBody>
          <a:bodyPr wrap="square" rtlCol="0">
            <a:spAutoFit/>
          </a:bodyPr>
          <a:lstStyle/>
          <a:p>
            <a:r>
              <a:rPr lang="en-US" sz="2400" b="1" dirty="0"/>
              <a:t>Project Tile – </a:t>
            </a:r>
            <a:r>
              <a:rPr lang="en-IN" sz="2800" dirty="0"/>
              <a:t>Predictive Maintenance of Industrial Machinery</a:t>
            </a:r>
            <a:endParaRPr lang="en-IN" sz="2800" b="1" dirty="0">
              <a:highlight>
                <a:srgbClr val="FFFF00"/>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523220"/>
          </a:xfrm>
          <a:prstGeom prst="rect">
            <a:avLst/>
          </a:prstGeom>
          <a:noFill/>
        </p:spPr>
        <p:txBody>
          <a:bodyPr wrap="square" rtlCol="0">
            <a:spAutoFit/>
          </a:bodyPr>
          <a:lstStyle/>
          <a:p>
            <a:r>
              <a:rPr lang="en-US" sz="2800" b="1" dirty="0"/>
              <a:t>Problem Statement -</a:t>
            </a:r>
            <a:endParaRPr lang="en-IN" sz="2800" b="1" dirty="0"/>
          </a:p>
        </p:txBody>
      </p:sp>
      <p:sp>
        <p:nvSpPr>
          <p:cNvPr id="4" name="TextBox 3">
            <a:extLst>
              <a:ext uri="{FF2B5EF4-FFF2-40B4-BE49-F238E27FC236}">
                <a16:creationId xmlns:a16="http://schemas.microsoft.com/office/drawing/2014/main" id="{CBF380B6-14CC-7EB1-4EAA-8EEF71AC35D9}"/>
              </a:ext>
            </a:extLst>
          </p:cNvPr>
          <p:cNvSpPr txBox="1"/>
          <p:nvPr/>
        </p:nvSpPr>
        <p:spPr>
          <a:xfrm>
            <a:off x="881062" y="1380009"/>
            <a:ext cx="10429875" cy="4097981"/>
          </a:xfrm>
          <a:prstGeom prst="rect">
            <a:avLst/>
          </a:prstGeom>
          <a:noFill/>
        </p:spPr>
        <p:txBody>
          <a:bodyPr wrap="square" rtlCol="0">
            <a:spAutoFit/>
          </a:bodyPr>
          <a:lstStyle/>
          <a:p>
            <a:pPr>
              <a:lnSpc>
                <a:spcPct val="150000"/>
              </a:lnSpc>
            </a:pPr>
            <a:r>
              <a:rPr lang="en-US" sz="2800" b="1" dirty="0"/>
              <a:t>Predictive Maintenance of Industrial Machinery </a:t>
            </a:r>
          </a:p>
          <a:p>
            <a:pPr>
              <a:lnSpc>
                <a:spcPct val="150000"/>
              </a:lnSpc>
            </a:pPr>
            <a:endParaRPr lang="en-US" sz="2800" b="1" dirty="0"/>
          </a:p>
          <a:p>
            <a:pPr>
              <a:lnSpc>
                <a:spcPct val="150000"/>
              </a:lnSpc>
            </a:pPr>
            <a:r>
              <a:rPr lang="en-US" sz="2000" dirty="0"/>
              <a:t>Develop a predictive maintenance model for a fleet of industrial machines to anticipate failures before they occur. This project will involve analyzing sensor data from machinery to identify patterns that precede a failure. The goal is to create a classification model that can predict the type of failure (e.g., tool wear, heat dissipation, power failure) based on real-time operational data. This will enable proactive maintenance, reducing downtime and operational costs. </a:t>
            </a:r>
            <a:endParaRPr lang="en-IN" sz="2000"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7F30CC-07EF-8FCC-DA00-C9212F5DAECE}"/>
              </a:ext>
            </a:extLst>
          </p:cNvPr>
          <p:cNvSpPr txBox="1"/>
          <p:nvPr/>
        </p:nvSpPr>
        <p:spPr>
          <a:xfrm>
            <a:off x="614362" y="448330"/>
            <a:ext cx="7214616" cy="523220"/>
          </a:xfrm>
          <a:prstGeom prst="rect">
            <a:avLst/>
          </a:prstGeom>
          <a:noFill/>
        </p:spPr>
        <p:txBody>
          <a:bodyPr wrap="square" rtlCol="0">
            <a:spAutoFit/>
          </a:bodyPr>
          <a:lstStyle/>
          <a:p>
            <a:r>
              <a:rPr lang="en-US" sz="2800" b="1" dirty="0"/>
              <a:t>Proposed Solution -</a:t>
            </a:r>
            <a:endParaRPr lang="en-IN" sz="2800" b="1" dirty="0"/>
          </a:p>
        </p:txBody>
      </p:sp>
      <p:sp>
        <p:nvSpPr>
          <p:cNvPr id="4" name="TextBox 3">
            <a:extLst>
              <a:ext uri="{FF2B5EF4-FFF2-40B4-BE49-F238E27FC236}">
                <a16:creationId xmlns:a16="http://schemas.microsoft.com/office/drawing/2014/main" id="{E1217BCA-BE96-BCC1-6AC9-825C1D719336}"/>
              </a:ext>
            </a:extLst>
          </p:cNvPr>
          <p:cNvSpPr txBox="1"/>
          <p:nvPr/>
        </p:nvSpPr>
        <p:spPr>
          <a:xfrm>
            <a:off x="845343" y="1190625"/>
            <a:ext cx="10501313" cy="4611519"/>
          </a:xfrm>
          <a:prstGeom prst="rect">
            <a:avLst/>
          </a:prstGeom>
          <a:noFill/>
        </p:spPr>
        <p:txBody>
          <a:bodyPr wrap="square" rtlCol="0">
            <a:spAutoFit/>
          </a:bodyPr>
          <a:lstStyle/>
          <a:p>
            <a:pPr>
              <a:lnSpc>
                <a:spcPct val="150000"/>
              </a:lnSpc>
            </a:pPr>
            <a:r>
              <a:rPr lang="en-IN" sz="1800" dirty="0"/>
              <a:t>The proposed solution leverages Machine Learning (ML) to implement a proactive, data-driven approach for predicting industrial machinery failure before it occurs. By continuously monitoring critical operational parameters—such as air temperature, process temperature, rotational speed, torque, and tool wear—the system effectively captures the complex, non-linear relationships that precede equipment breakdown. Built and deployed within the scalable framework of IBM Watson Studio on the IBM Cloud, this solution utilizes advanced classification algorithms to </a:t>
            </a:r>
            <a:r>
              <a:rPr lang="en-IN" sz="1800" dirty="0" err="1"/>
              <a:t>analyze</a:t>
            </a:r>
            <a:r>
              <a:rPr lang="en-IN" sz="1800" dirty="0"/>
              <a:t> real-time and historical sensor telemetry. By mapping these specific data points against known failure modes, the ML model successfully detects anomalies, estimates structural degradation, and forecasts potential faults. This automated predictive capability transforms traditional maintenance workflows from a reactive or rigidly scheduled routine into an optimized, condition-based strategy, thereby significantly minimizing unplanned downtime, reducing operational costs, and extending the lifespan of vital industrial assets.</a:t>
            </a:r>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3016210"/>
          </a:xfrm>
          <a:prstGeom prst="rect">
            <a:avLst/>
          </a:prstGeom>
          <a:noFill/>
        </p:spPr>
        <p:txBody>
          <a:bodyPr wrap="square" lIns="91440" tIns="45720" rIns="91440" bIns="45720" rtlCol="0" anchor="t">
            <a:spAutoFit/>
          </a:bodyPr>
          <a:lstStyle/>
          <a:p>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a:t>
            </a:r>
            <a:r>
              <a:rPr lang="en-US" sz="1800" dirty="0" err="1"/>
              <a:t>Nutrion</a:t>
            </a:r>
            <a:r>
              <a:rPr lang="en-US" sz="1800" dirty="0"/>
              <a:t>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ML Algorithm/ Model Used: </a:t>
            </a:r>
            <a:r>
              <a:rPr lang="en-US" sz="1800" dirty="0"/>
              <a:t>Batched tree Ensemble classifier</a:t>
            </a:r>
          </a:p>
          <a:p>
            <a:pPr marL="285750" indent="-285750">
              <a:buFont typeface="Arial" panose="020B0604020202020204" pitchFamily="34" charset="0"/>
              <a:buChar char="•"/>
            </a:pPr>
            <a:r>
              <a:rPr lang="en-US" sz="1800" b="1" dirty="0"/>
              <a:t>Accuracy Obtained: </a:t>
            </a:r>
            <a:r>
              <a:rPr lang="en-US" sz="1800" dirty="0"/>
              <a:t>0.979</a:t>
            </a:r>
          </a:p>
          <a:p>
            <a:pPr marL="285750" indent="-285750">
              <a:buFont typeface="Arial" panose="020B0604020202020204" pitchFamily="34" charset="0"/>
              <a:buChar char="•"/>
            </a:pPr>
            <a:r>
              <a:rPr lang="en-US" sz="1800" b="1" dirty="0"/>
              <a:t>Enhancements and Hyperparameter tuning: </a:t>
            </a:r>
            <a:r>
              <a:rPr lang="en-US" sz="1800" dirty="0"/>
              <a:t>HPO-1, FE, HPO-2, BATCH</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4" name="Picture 3">
            <a:extLst>
              <a:ext uri="{FF2B5EF4-FFF2-40B4-BE49-F238E27FC236}">
                <a16:creationId xmlns:a16="http://schemas.microsoft.com/office/drawing/2014/main" id="{CE069FB3-5C7B-4D64-B4BF-5E6591CB271C}"/>
              </a:ext>
            </a:extLst>
          </p:cNvPr>
          <p:cNvPicPr>
            <a:picLocks noChangeAspect="1"/>
          </p:cNvPicPr>
          <p:nvPr/>
        </p:nvPicPr>
        <p:blipFill>
          <a:blip r:embed="rId3"/>
          <a:srcRect t="9445" b="4713"/>
          <a:stretch>
            <a:fillRect/>
          </a:stretch>
        </p:blipFill>
        <p:spPr>
          <a:xfrm>
            <a:off x="1377139" y="981186"/>
            <a:ext cx="10138759" cy="4895628"/>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45A85C12-8B64-B700-289D-61A9506A7530}"/>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EBF861DF-0272-7B4F-0491-7E490671A98C}"/>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4" name="Picture 3">
            <a:extLst>
              <a:ext uri="{FF2B5EF4-FFF2-40B4-BE49-F238E27FC236}">
                <a16:creationId xmlns:a16="http://schemas.microsoft.com/office/drawing/2014/main" id="{1804A480-6838-75B1-A6FB-7908194D5352}"/>
              </a:ext>
            </a:extLst>
          </p:cNvPr>
          <p:cNvPicPr>
            <a:picLocks noChangeAspect="1"/>
          </p:cNvPicPr>
          <p:nvPr/>
        </p:nvPicPr>
        <p:blipFill>
          <a:blip r:embed="rId3"/>
          <a:srcRect t="9248" b="7079"/>
          <a:stretch>
            <a:fillRect/>
          </a:stretch>
        </p:blipFill>
        <p:spPr>
          <a:xfrm>
            <a:off x="1377139" y="1043043"/>
            <a:ext cx="10138759" cy="4771914"/>
          </a:xfrm>
          <a:prstGeom prst="rect">
            <a:avLst/>
          </a:prstGeom>
        </p:spPr>
      </p:pic>
    </p:spTree>
    <p:extLst>
      <p:ext uri="{BB962C8B-B14F-4D97-AF65-F5344CB8AC3E}">
        <p14:creationId xmlns:p14="http://schemas.microsoft.com/office/powerpoint/2010/main" val="661038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12" name="Picture 11">
            <a:extLst>
              <a:ext uri="{FF2B5EF4-FFF2-40B4-BE49-F238E27FC236}">
                <a16:creationId xmlns:a16="http://schemas.microsoft.com/office/drawing/2014/main" id="{EA32AEB0-3A3B-DE1A-F3F6-817D1B453D04}"/>
              </a:ext>
            </a:extLst>
          </p:cNvPr>
          <p:cNvPicPr>
            <a:picLocks noChangeAspect="1"/>
          </p:cNvPicPr>
          <p:nvPr/>
        </p:nvPicPr>
        <p:blipFill>
          <a:blip r:embed="rId3"/>
          <a:srcRect t="9741" b="4787"/>
          <a:stretch>
            <a:fillRect/>
          </a:stretch>
        </p:blipFill>
        <p:spPr>
          <a:xfrm>
            <a:off x="1083734" y="1019174"/>
            <a:ext cx="10024532" cy="481965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10" name="Picture 9">
            <a:extLst>
              <a:ext uri="{FF2B5EF4-FFF2-40B4-BE49-F238E27FC236}">
                <a16:creationId xmlns:a16="http://schemas.microsoft.com/office/drawing/2014/main" id="{B5FE8DA2-14B6-FAE6-9EC0-7C2A1A404708}"/>
              </a:ext>
            </a:extLst>
          </p:cNvPr>
          <p:cNvPicPr>
            <a:picLocks noChangeAspect="1"/>
          </p:cNvPicPr>
          <p:nvPr/>
        </p:nvPicPr>
        <p:blipFill>
          <a:blip r:embed="rId3"/>
          <a:srcRect t="9666" b="4833"/>
          <a:stretch>
            <a:fillRect/>
          </a:stretch>
        </p:blipFill>
        <p:spPr>
          <a:xfrm>
            <a:off x="1214157" y="1081087"/>
            <a:ext cx="9763685" cy="4695825"/>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7" name="Picture 6">
            <a:extLst>
              <a:ext uri="{FF2B5EF4-FFF2-40B4-BE49-F238E27FC236}">
                <a16:creationId xmlns:a16="http://schemas.microsoft.com/office/drawing/2014/main" id="{85DF99AC-D1C6-EA9C-D42E-6073C09D0166}"/>
              </a:ext>
            </a:extLst>
          </p:cNvPr>
          <p:cNvPicPr>
            <a:picLocks noChangeAspect="1"/>
          </p:cNvPicPr>
          <p:nvPr/>
        </p:nvPicPr>
        <p:blipFill>
          <a:blip r:embed="rId2"/>
          <a:srcRect t="9419" b="4880"/>
          <a:stretch>
            <a:fillRect/>
          </a:stretch>
        </p:blipFill>
        <p:spPr>
          <a:xfrm>
            <a:off x="1166257" y="1052512"/>
            <a:ext cx="9859485" cy="4752975"/>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330990"/>
            <a:ext cx="10769628" cy="4196020"/>
          </a:xfrm>
          <a:prstGeom prst="rect">
            <a:avLst/>
          </a:prstGeom>
          <a:noFill/>
        </p:spPr>
        <p:txBody>
          <a:bodyPr wrap="square" lIns="91440" tIns="45720" rIns="91440" bIns="45720" rtlCol="0" anchor="t">
            <a:spAutoFit/>
          </a:bodyPr>
          <a:lstStyle/>
          <a:p>
            <a:pPr marL="285750" indent="-285750">
              <a:lnSpc>
                <a:spcPct val="150000"/>
              </a:lnSpc>
              <a:buFont typeface="Arial" panose="020B0604020202020204" pitchFamily="34" charset="0"/>
              <a:buChar char="•"/>
            </a:pPr>
            <a:r>
              <a:rPr lang="en-IN" sz="1800" b="1" dirty="0"/>
              <a:t>Cloud-Native Scalability:</a:t>
            </a:r>
            <a:r>
              <a:rPr lang="en-IN" sz="1800" dirty="0"/>
              <a:t> Leverages the robust infrastructure of IBM Cloud and IBM Watson Studio to handle high-volume, real-time industrial sensor streams seamlessly.</a:t>
            </a:r>
          </a:p>
          <a:p>
            <a:pPr marL="285750" indent="-285750">
              <a:lnSpc>
                <a:spcPct val="150000"/>
              </a:lnSpc>
              <a:buFont typeface="Arial" panose="020B0604020202020204" pitchFamily="34" charset="0"/>
              <a:buChar char="•"/>
            </a:pPr>
            <a:r>
              <a:rPr lang="en-IN" sz="1800" b="1" dirty="0"/>
              <a:t>Multi-Parametric Synthesis:</a:t>
            </a:r>
            <a:r>
              <a:rPr lang="en-IN" sz="1800" dirty="0"/>
              <a:t> Evaluates a diverse array of thermodynamic and mechanical variables simultaneously to detect complex, interconnected fault indicators that single-sensor systems miss.</a:t>
            </a:r>
          </a:p>
          <a:p>
            <a:pPr marL="285750" indent="-285750">
              <a:lnSpc>
                <a:spcPct val="150000"/>
              </a:lnSpc>
              <a:buFont typeface="Arial" panose="020B0604020202020204" pitchFamily="34" charset="0"/>
              <a:buChar char="•"/>
            </a:pPr>
            <a:r>
              <a:rPr lang="en-IN" sz="1800" b="1" dirty="0"/>
              <a:t>Granular Precision:</a:t>
            </a:r>
            <a:r>
              <a:rPr lang="en-IN" sz="1800" dirty="0"/>
              <a:t> Transitions operational strategy from generic, time-based maintenance intervals to precise, condition-based interventions tailored to actual machine wear.</a:t>
            </a:r>
          </a:p>
          <a:p>
            <a:pPr marL="285750" indent="-285750">
              <a:lnSpc>
                <a:spcPct val="150000"/>
              </a:lnSpc>
              <a:buFont typeface="Arial" panose="020B0604020202020204" pitchFamily="34" charset="0"/>
              <a:buChar char="•"/>
            </a:pPr>
            <a:r>
              <a:rPr lang="en-IN" sz="1800" b="1" dirty="0"/>
              <a:t>Proactive Defect Mapping:</a:t>
            </a:r>
            <a:r>
              <a:rPr lang="en-IN" sz="1800" dirty="0"/>
              <a:t> Links real-time telemetry directly to specific failure modes, allowing facilities to identify not just </a:t>
            </a:r>
            <a:r>
              <a:rPr lang="en-IN" sz="1800" i="1" dirty="0"/>
              <a:t>when</a:t>
            </a:r>
            <a:r>
              <a:rPr lang="en-IN" sz="1800" dirty="0"/>
              <a:t> a breakdown will occur, but </a:t>
            </a:r>
            <a:r>
              <a:rPr lang="en-IN" sz="1800" i="1" dirty="0"/>
              <a:t>why</a:t>
            </a:r>
            <a:r>
              <a:rPr lang="en-IN" sz="1800" dirty="0"/>
              <a:t>.</a:t>
            </a:r>
          </a:p>
          <a:p>
            <a:pPr marL="285750" indent="-285750">
              <a:lnSpc>
                <a:spcPct val="150000"/>
              </a:lnSpc>
              <a:buFont typeface="Arial" panose="020B0604020202020204" pitchFamily="34" charset="0"/>
              <a:buChar char="•"/>
            </a:pPr>
            <a:r>
              <a:rPr lang="en-IN" sz="1800" b="1" dirty="0"/>
              <a:t>Seamless Workflow Integration:</a:t>
            </a:r>
            <a:r>
              <a:rPr lang="en-IN" sz="1800" dirty="0"/>
              <a:t> Converts raw, multi-sensor data into immediate, actionable predictive insights without disrupting existing factory floor operations.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hlinkClick r:id="rId3"/>
              </a:rPr>
              <a:t>https://github.com/shubham20387/IBM-ML-project</a:t>
            </a: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lang="en-US" sz="1850" dirty="0">
              <a:solidFill>
                <a:srgbClr val="2B3541"/>
              </a:solidFill>
              <a:latin typeface="Times New Roman"/>
              <a:ea typeface="Times New Roman"/>
              <a:cs typeface="Times New Roman"/>
            </a:endParaRPr>
          </a:p>
          <a:p>
            <a:pPr>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Data.csv file, 2) yourproblemstatement.pdf file  3) your project presntation.pptx file 4) Python Notebook downloaded from IBM Cloud</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99062"/>
            <a:ext cx="10458926" cy="4277001"/>
          </a:xfrm>
          <a:prstGeom prst="rect">
            <a:avLst/>
          </a:prstGeom>
          <a:noFill/>
          <a:ln>
            <a:noFill/>
          </a:ln>
        </p:spPr>
        <p:txBody>
          <a:bodyPr spcFirstLastPara="1" wrap="square" lIns="0" tIns="0" rIns="0" bIns="0" anchor="t" anchorCtr="0">
            <a:noAutofit/>
          </a:bodyPr>
          <a:lstStyle/>
          <a:p>
            <a:pPr marL="342900" indent="-342900">
              <a:lnSpc>
                <a:spcPct val="150000"/>
              </a:lnSpc>
              <a:buFont typeface="Arial" panose="020B0604020202020204" pitchFamily="34" charset="0"/>
              <a:buChar char="•"/>
            </a:pPr>
            <a:r>
              <a:rPr lang="en-IN" sz="1800" b="1" dirty="0"/>
              <a:t>Edge AI Deployment:</a:t>
            </a:r>
            <a:r>
              <a:rPr lang="en-IN" sz="1800" dirty="0"/>
              <a:t> Integrating the trained models directly onto localized edge computing devices for real-time, low-latency fault prediction without relying on constant cloud connectivity.</a:t>
            </a:r>
          </a:p>
          <a:p>
            <a:pPr marL="342900" indent="-342900">
              <a:lnSpc>
                <a:spcPct val="150000"/>
              </a:lnSpc>
              <a:buFont typeface="Arial" panose="020B0604020202020204" pitchFamily="34" charset="0"/>
              <a:buChar char="•"/>
            </a:pPr>
            <a:r>
              <a:rPr lang="en-IN" sz="1800" b="1" dirty="0"/>
              <a:t>Prescriptive Maintenance Action:</a:t>
            </a:r>
            <a:r>
              <a:rPr lang="en-IN" sz="1800" dirty="0"/>
              <a:t> Advancing the system from predicting failures to automatically recommending specific troubleshooting steps and auto-generating repair work orders.</a:t>
            </a:r>
          </a:p>
          <a:p>
            <a:pPr marL="342900" indent="-342900">
              <a:lnSpc>
                <a:spcPct val="150000"/>
              </a:lnSpc>
              <a:buFont typeface="Arial" panose="020B0604020202020204" pitchFamily="34" charset="0"/>
              <a:buChar char="•"/>
            </a:pPr>
            <a:r>
              <a:rPr lang="en-IN" sz="1800" b="1" dirty="0"/>
              <a:t>Digital Twin Synchronization:</a:t>
            </a:r>
            <a:r>
              <a:rPr lang="en-IN" sz="1800" dirty="0"/>
              <a:t> Integrating the machine learning models into a fully dynamic 3D digital twin of the factory floor to simulate operational stress and visualize degradation in real-time.</a:t>
            </a:r>
          </a:p>
          <a:p>
            <a:pPr marL="342900" indent="-342900">
              <a:lnSpc>
                <a:spcPct val="150000"/>
              </a:lnSpc>
              <a:buFont typeface="Arial" panose="020B0604020202020204" pitchFamily="34" charset="0"/>
              <a:buChar char="•"/>
            </a:pPr>
            <a:r>
              <a:rPr lang="en-IN" sz="1800" b="1" dirty="0"/>
              <a:t>Cross-Fleet Transfer Learning:</a:t>
            </a:r>
            <a:r>
              <a:rPr lang="en-IN" sz="1800" dirty="0"/>
              <a:t> Applying knowledge gained from existing machinery to newly installed equipment with minimal historical data, accelerating system deployment and accuracy.</a:t>
            </a:r>
          </a:p>
          <a:p>
            <a:pPr marL="342900" indent="-342900">
              <a:lnSpc>
                <a:spcPct val="150000"/>
              </a:lnSpc>
              <a:buFont typeface="Arial" panose="020B0604020202020204" pitchFamily="34" charset="0"/>
              <a:buChar char="•"/>
            </a:pPr>
            <a:r>
              <a:rPr lang="en-IN" sz="1800" b="1" dirty="0"/>
              <a:t>Automated Supply Chain Integration:</a:t>
            </a:r>
            <a:r>
              <a:rPr lang="en-IN" sz="1800" dirty="0"/>
              <a:t> Linking predictive failure insights directly with inventory management systems to autonomously order replacement parts before a component actually breaks down.</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4" name="Picture 3">
            <a:extLst>
              <a:ext uri="{FF2B5EF4-FFF2-40B4-BE49-F238E27FC236}">
                <a16:creationId xmlns:a16="http://schemas.microsoft.com/office/drawing/2014/main" id="{A037CFD0-B7FF-D9BE-3433-88E5844EF332}"/>
              </a:ext>
            </a:extLst>
          </p:cNvPr>
          <p:cNvPicPr>
            <a:picLocks noChangeAspect="1"/>
          </p:cNvPicPr>
          <p:nvPr/>
        </p:nvPicPr>
        <p:blipFill>
          <a:blip r:embed="rId2"/>
          <a:srcRect/>
          <a:stretch/>
        </p:blipFill>
        <p:spPr>
          <a:xfrm>
            <a:off x="2884615" y="1015711"/>
            <a:ext cx="6422769" cy="4826578"/>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rcRect l="2384" r="2384"/>
          <a:stretch/>
        </p:blipFill>
        <p:spPr>
          <a:xfrm>
            <a:off x="2507223" y="1099711"/>
            <a:ext cx="7177553" cy="4658577"/>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729</Words>
  <Application>Microsoft Office PowerPoint</Application>
  <PresentationFormat>Widescreen</PresentationFormat>
  <Paragraphs>58</Paragraphs>
  <Slides>16</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Shubhamkumar Patil</cp:lastModifiedBy>
  <cp:revision>2</cp:revision>
  <dcterms:created xsi:type="dcterms:W3CDTF">2025-07-08T05:06:56Z</dcterms:created>
  <dcterms:modified xsi:type="dcterms:W3CDTF">2026-07-03T09:14:54Z</dcterms:modified>
</cp:coreProperties>
</file>