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79" r:id="rId7"/>
    <p:sldId id="292" r:id="rId8"/>
    <p:sldId id="262" r:id="rId9"/>
    <p:sldId id="290" r:id="rId10"/>
    <p:sldId id="291"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827"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5DFC45A-0E92-6CFD-3DD2-FCAF51E7292A}"/>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CC08EBA-9ABE-143C-83D9-96B7EA3773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FAF0CCF8-9E01-C17F-172C-7CEC8F0308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0421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hetan1472/EDUNET-ML-PROJEC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622478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Chetan Chaudhari</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a:t>chaudhari.chetan1472@gmail.com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8329160047</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t>Education</a:t>
            </a:r>
            <a:endParaRPr lang="en-IN" sz="2400"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IN" sz="2800" dirty="0"/>
              <a:t>College admission agent</a:t>
            </a:r>
            <a:endParaRPr lang="en-IN" sz="2800" b="1" dirty="0">
              <a:highlight>
                <a:srgbClr val="FFFF00"/>
              </a:highlight>
            </a:endParaRPr>
          </a:p>
        </p:txBody>
      </p:sp>
      <p:pic>
        <p:nvPicPr>
          <p:cNvPr id="2" name="Picture 1">
            <a:extLst>
              <a:ext uri="{FF2B5EF4-FFF2-40B4-BE49-F238E27FC236}">
                <a16:creationId xmlns:a16="http://schemas.microsoft.com/office/drawing/2014/main" id="{BEBCA6AA-BEFB-5CF3-3DED-155A4C8C7F5B}"/>
              </a:ext>
            </a:extLst>
          </p:cNvPr>
          <p:cNvPicPr>
            <a:picLocks noChangeAspect="1"/>
          </p:cNvPicPr>
          <p:nvPr/>
        </p:nvPicPr>
        <p:blipFill>
          <a:blip r:embed="rId3"/>
          <a:stretch>
            <a:fillRect/>
          </a:stretch>
        </p:blipFill>
        <p:spPr>
          <a:xfrm>
            <a:off x="4133850" y="3623782"/>
            <a:ext cx="758515" cy="10008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523220"/>
          </a:xfrm>
          <a:prstGeom prst="rect">
            <a:avLst/>
          </a:prstGeom>
          <a:noFill/>
        </p:spPr>
        <p:txBody>
          <a:bodyPr wrap="square" rtlCol="0">
            <a:spAutoFit/>
          </a:bodyPr>
          <a:lstStyle/>
          <a:p>
            <a:r>
              <a:rPr lang="en-US" sz="2800" b="1" dirty="0"/>
              <a:t>Problem Statement -</a:t>
            </a:r>
            <a:endParaRPr lang="en-IN" sz="2800" b="1" dirty="0"/>
          </a:p>
        </p:txBody>
      </p:sp>
      <p:sp>
        <p:nvSpPr>
          <p:cNvPr id="4" name="TextBox 3">
            <a:extLst>
              <a:ext uri="{FF2B5EF4-FFF2-40B4-BE49-F238E27FC236}">
                <a16:creationId xmlns:a16="http://schemas.microsoft.com/office/drawing/2014/main" id="{CBF380B6-14CC-7EB1-4EAA-8EEF71AC35D9}"/>
              </a:ext>
            </a:extLst>
          </p:cNvPr>
          <p:cNvSpPr txBox="1"/>
          <p:nvPr/>
        </p:nvSpPr>
        <p:spPr>
          <a:xfrm>
            <a:off x="881062" y="1380009"/>
            <a:ext cx="10429875" cy="4097981"/>
          </a:xfrm>
          <a:prstGeom prst="rect">
            <a:avLst/>
          </a:prstGeom>
          <a:noFill/>
        </p:spPr>
        <p:txBody>
          <a:bodyPr wrap="square" rtlCol="0">
            <a:spAutoFit/>
          </a:bodyPr>
          <a:lstStyle/>
          <a:p>
            <a:pPr>
              <a:lnSpc>
                <a:spcPct val="150000"/>
              </a:lnSpc>
            </a:pPr>
            <a:r>
              <a:rPr lang="en-US" sz="2800" b="1" dirty="0"/>
              <a:t>House price predictor AI</a:t>
            </a:r>
          </a:p>
          <a:p>
            <a:pPr>
              <a:lnSpc>
                <a:spcPct val="150000"/>
              </a:lnSpc>
            </a:pPr>
            <a:endParaRPr lang="en-US" sz="2800" b="1" dirty="0"/>
          </a:p>
          <a:p>
            <a:pPr>
              <a:lnSpc>
                <a:spcPct val="150000"/>
              </a:lnSpc>
            </a:pPr>
            <a:r>
              <a:rPr lang="en-IN" sz="2000" dirty="0"/>
              <a:t>Accurately predicting real estate valuations is difficult due to the complex, non-linear interactions between disparate factors such as zoning classifications, structural age, and precise spatial metrics like basement and lot square footage. Furthermore, relying on manual data entry across fragmented systems introduces operational inefficiencies, making it challenging to deliver instantaneous, reliable price estimations while handling missing or inconsistent property attributes.</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614362" y="448330"/>
            <a:ext cx="7214616" cy="523220"/>
          </a:xfrm>
          <a:prstGeom prst="rect">
            <a:avLst/>
          </a:prstGeom>
          <a:noFill/>
        </p:spPr>
        <p:txBody>
          <a:bodyPr wrap="square" rtlCol="0">
            <a:spAutoFit/>
          </a:bodyPr>
          <a:lstStyle/>
          <a:p>
            <a:r>
              <a:rPr lang="en-US" sz="2800" b="1" dirty="0"/>
              <a:t>Proposed Solution -</a:t>
            </a:r>
            <a:endParaRPr lang="en-IN" sz="2800" b="1" dirty="0"/>
          </a:p>
        </p:txBody>
      </p:sp>
      <p:sp>
        <p:nvSpPr>
          <p:cNvPr id="4" name="TextBox 3">
            <a:extLst>
              <a:ext uri="{FF2B5EF4-FFF2-40B4-BE49-F238E27FC236}">
                <a16:creationId xmlns:a16="http://schemas.microsoft.com/office/drawing/2014/main" id="{E1217BCA-BE96-BCC1-6AC9-825C1D719336}"/>
              </a:ext>
            </a:extLst>
          </p:cNvPr>
          <p:cNvSpPr txBox="1"/>
          <p:nvPr/>
        </p:nvSpPr>
        <p:spPr>
          <a:xfrm>
            <a:off x="845343" y="1564675"/>
            <a:ext cx="10501313" cy="3728649"/>
          </a:xfrm>
          <a:prstGeom prst="rect">
            <a:avLst/>
          </a:prstGeom>
          <a:noFill/>
        </p:spPr>
        <p:txBody>
          <a:bodyPr wrap="square" rtlCol="0">
            <a:spAutoFit/>
          </a:bodyPr>
          <a:lstStyle/>
          <a:p>
            <a:pPr>
              <a:lnSpc>
                <a:spcPct val="150000"/>
              </a:lnSpc>
            </a:pPr>
            <a:r>
              <a:rPr lang="en-IN" sz="2000" dirty="0"/>
              <a:t>The proposed solution implements an automated, end-to-end House Price Predictor deployed via IBM </a:t>
            </a:r>
            <a:r>
              <a:rPr lang="en-IN" sz="2000" dirty="0" err="1"/>
              <a:t>watsonx</a:t>
            </a:r>
            <a:r>
              <a:rPr lang="en-IN" sz="2000" dirty="0"/>
              <a:t> Orchestrate to streamline real-time property valuation workflows. By leveraging digital workers and pre-configured skills, the system automatically ingests key structural parameters—such as </a:t>
            </a:r>
            <a:r>
              <a:rPr lang="en-IN" sz="1600" b="1" dirty="0" err="1"/>
              <a:t>MSZoning</a:t>
            </a:r>
            <a:r>
              <a:rPr lang="en-IN" sz="2000" b="1" dirty="0"/>
              <a:t>, </a:t>
            </a:r>
            <a:r>
              <a:rPr lang="en-IN" sz="1600" b="1" dirty="0" err="1"/>
              <a:t>LotArea</a:t>
            </a:r>
            <a:r>
              <a:rPr lang="en-IN" sz="2000" b="1" dirty="0"/>
              <a:t>, </a:t>
            </a:r>
            <a:r>
              <a:rPr lang="en-IN" sz="1600" b="1" dirty="0" err="1"/>
              <a:t>OverallCond</a:t>
            </a:r>
            <a:r>
              <a:rPr lang="en-IN" sz="2000" b="1" dirty="0"/>
              <a:t>, </a:t>
            </a:r>
            <a:r>
              <a:rPr lang="en-IN" sz="1600" b="1" dirty="0" err="1"/>
              <a:t>YearBuilt</a:t>
            </a:r>
            <a:r>
              <a:rPr lang="en-IN" sz="2000" b="1" dirty="0"/>
              <a:t>, </a:t>
            </a:r>
            <a:r>
              <a:rPr lang="en-IN" sz="1600" b="1" dirty="0" err="1"/>
              <a:t>YearRemodAdd</a:t>
            </a:r>
            <a:r>
              <a:rPr lang="en-IN" sz="2000" dirty="0"/>
              <a:t>, and </a:t>
            </a:r>
            <a:r>
              <a:rPr lang="en-IN" sz="1600" b="1" dirty="0" err="1"/>
              <a:t>TotalBsmtSF</a:t>
            </a:r>
            <a:r>
              <a:rPr lang="en-IN" sz="2000" dirty="0"/>
              <a:t>—and routes them through a high-performance machine learning model. This approach eliminates manual data handling by enabling users to trigger highly accurate </a:t>
            </a:r>
            <a:r>
              <a:rPr lang="en-IN" sz="1600" b="1" i="1" dirty="0" err="1"/>
              <a:t>SalePrice</a:t>
            </a:r>
            <a:r>
              <a:rPr lang="en-IN" sz="2000" b="1" i="1" dirty="0"/>
              <a:t> </a:t>
            </a:r>
            <a:r>
              <a:rPr lang="en-IN" sz="2000" dirty="0"/>
              <a:t>estimations dynamically through conversational AI or automated workflows, effectively optimizing decision-making in real estate management and property assessment.</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016210"/>
          </a:xfrm>
          <a:prstGeom prst="rect">
            <a:avLst/>
          </a:prstGeom>
          <a:noFill/>
        </p:spPr>
        <p:txBody>
          <a:bodyPr wrap="square" lIns="91440" tIns="45720" rIns="91440" bIns="45720" rtlCol="0" anchor="t">
            <a:spAutoFit/>
          </a:bodyPr>
          <a:lstStyle/>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a:t>
            </a:r>
            <a:r>
              <a:rPr lang="en-US" sz="1800" dirty="0" err="1"/>
              <a:t>Nutrion</a:t>
            </a:r>
            <a:r>
              <a:rPr lang="en-US" sz="1800" dirty="0"/>
              <a:t>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ML Algorithm/ Model Used: </a:t>
            </a:r>
            <a:r>
              <a:rPr lang="en-US" sz="1800" dirty="0"/>
              <a:t>Snap boosting machine regressor</a:t>
            </a:r>
          </a:p>
          <a:p>
            <a:pPr marL="285750" indent="-285750">
              <a:buFont typeface="Arial" panose="020B0604020202020204" pitchFamily="34" charset="0"/>
              <a:buChar char="•"/>
            </a:pPr>
            <a:r>
              <a:rPr lang="en-US" sz="1800" b="1" dirty="0"/>
              <a:t>Accuracy Obtained: </a:t>
            </a:r>
            <a:r>
              <a:rPr lang="en-US" sz="1800" dirty="0"/>
              <a:t>0.979</a:t>
            </a:r>
          </a:p>
          <a:p>
            <a:pPr marL="285750" indent="-285750">
              <a:buFont typeface="Arial" panose="020B0604020202020204" pitchFamily="34" charset="0"/>
              <a:buChar char="•"/>
            </a:pPr>
            <a:r>
              <a:rPr lang="en-US" sz="1800" b="1" dirty="0"/>
              <a:t>Enhancements and Hyperparameter tuning: </a:t>
            </a:r>
            <a:r>
              <a:rPr lang="en-US" sz="1800" dirty="0"/>
              <a:t>HPO-1, FE, HPO-2,</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CE069FB3-5C7B-4D64-B4BF-5E6591CB271C}"/>
              </a:ext>
            </a:extLst>
          </p:cNvPr>
          <p:cNvPicPr>
            <a:picLocks noChangeAspect="1"/>
          </p:cNvPicPr>
          <p:nvPr/>
        </p:nvPicPr>
        <p:blipFill>
          <a:blip r:embed="rId3"/>
          <a:srcRect t="7079" b="7079"/>
          <a:stretch/>
        </p:blipFill>
        <p:spPr>
          <a:xfrm>
            <a:off x="1377139" y="981186"/>
            <a:ext cx="10138759" cy="489562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5A85C12-8B64-B700-289D-61A9506A753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BF861DF-0272-7B4F-0491-7E490671A98C}"/>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1804A480-6838-75B1-A6FB-7908194D5352}"/>
              </a:ext>
            </a:extLst>
          </p:cNvPr>
          <p:cNvPicPr>
            <a:picLocks noChangeAspect="1"/>
          </p:cNvPicPr>
          <p:nvPr/>
        </p:nvPicPr>
        <p:blipFill>
          <a:blip r:embed="rId3"/>
          <a:srcRect t="8164" b="8164"/>
          <a:stretch/>
        </p:blipFill>
        <p:spPr>
          <a:xfrm>
            <a:off x="1377139" y="1043043"/>
            <a:ext cx="10138759" cy="4771914"/>
          </a:xfrm>
          <a:prstGeom prst="rect">
            <a:avLst/>
          </a:prstGeom>
        </p:spPr>
      </p:pic>
    </p:spTree>
    <p:extLst>
      <p:ext uri="{BB962C8B-B14F-4D97-AF65-F5344CB8AC3E}">
        <p14:creationId xmlns:p14="http://schemas.microsoft.com/office/powerpoint/2010/main" val="66103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12" name="Picture 11">
            <a:extLst>
              <a:ext uri="{FF2B5EF4-FFF2-40B4-BE49-F238E27FC236}">
                <a16:creationId xmlns:a16="http://schemas.microsoft.com/office/drawing/2014/main" id="{EA32AEB0-3A3B-DE1A-F3F6-817D1B453D04}"/>
              </a:ext>
            </a:extLst>
          </p:cNvPr>
          <p:cNvPicPr>
            <a:picLocks noChangeAspect="1"/>
          </p:cNvPicPr>
          <p:nvPr/>
        </p:nvPicPr>
        <p:blipFill>
          <a:blip r:embed="rId3"/>
          <a:srcRect t="7264" b="7264"/>
          <a:stretch/>
        </p:blipFill>
        <p:spPr>
          <a:xfrm>
            <a:off x="1083734" y="1019174"/>
            <a:ext cx="10024532" cy="48196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10" name="Picture 9">
            <a:extLst>
              <a:ext uri="{FF2B5EF4-FFF2-40B4-BE49-F238E27FC236}">
                <a16:creationId xmlns:a16="http://schemas.microsoft.com/office/drawing/2014/main" id="{B5FE8DA2-14B6-FAE6-9EC0-7C2A1A404708}"/>
              </a:ext>
            </a:extLst>
          </p:cNvPr>
          <p:cNvPicPr>
            <a:picLocks noChangeAspect="1"/>
          </p:cNvPicPr>
          <p:nvPr/>
        </p:nvPicPr>
        <p:blipFill>
          <a:blip r:embed="rId3"/>
          <a:srcRect t="7249" b="7249"/>
          <a:stretch/>
        </p:blipFill>
        <p:spPr>
          <a:xfrm>
            <a:off x="1214157" y="1081087"/>
            <a:ext cx="9763685" cy="469582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7" name="Picture 6">
            <a:extLst>
              <a:ext uri="{FF2B5EF4-FFF2-40B4-BE49-F238E27FC236}">
                <a16:creationId xmlns:a16="http://schemas.microsoft.com/office/drawing/2014/main" id="{85DF99AC-D1C6-EA9C-D42E-6073C09D0166}"/>
              </a:ext>
            </a:extLst>
          </p:cNvPr>
          <p:cNvPicPr>
            <a:picLocks noChangeAspect="1"/>
          </p:cNvPicPr>
          <p:nvPr/>
        </p:nvPicPr>
        <p:blipFill>
          <a:blip r:embed="rId2"/>
          <a:srcRect t="7149" b="7149"/>
          <a:stretch/>
        </p:blipFill>
        <p:spPr>
          <a:xfrm>
            <a:off x="1166257" y="1052512"/>
            <a:ext cx="9859485" cy="4752975"/>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330990"/>
            <a:ext cx="10769628" cy="3739998"/>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IN" sz="1600" b="1" dirty="0"/>
              <a:t>Orchestration-Driven Execution:</a:t>
            </a:r>
            <a:r>
              <a:rPr lang="en-IN" sz="1600" dirty="0"/>
              <a:t> Embeds the predictive model within an autonomous digital workforce using IBM </a:t>
            </a:r>
            <a:r>
              <a:rPr lang="en-IN" sz="1600" dirty="0" err="1"/>
              <a:t>watsonx</a:t>
            </a:r>
            <a:r>
              <a:rPr lang="en-IN" sz="1600" dirty="0"/>
              <a:t> Orchestrate, allowing predictions to be triggered seamlessly through natural language skills.</a:t>
            </a:r>
          </a:p>
          <a:p>
            <a:pPr marL="285750" indent="-285750">
              <a:lnSpc>
                <a:spcPct val="150000"/>
              </a:lnSpc>
              <a:buFont typeface="Arial" panose="020B0604020202020204" pitchFamily="34" charset="0"/>
              <a:buChar char="•"/>
            </a:pPr>
            <a:r>
              <a:rPr lang="en-IN" sz="1600" b="1" dirty="0"/>
              <a:t>Multi-Dimensional Feature Synthesis:</a:t>
            </a:r>
            <a:r>
              <a:rPr lang="en-IN" sz="1600" dirty="0"/>
              <a:t> Simultaneously processes distinct qualitative and quantitative parameters, capturing the combined impact of zoning regulations and physical spatial metrics on market value.</a:t>
            </a:r>
          </a:p>
          <a:p>
            <a:pPr marL="285750" indent="-285750">
              <a:lnSpc>
                <a:spcPct val="150000"/>
              </a:lnSpc>
              <a:buFont typeface="Arial" panose="020B0604020202020204" pitchFamily="34" charset="0"/>
              <a:buChar char="•"/>
            </a:pPr>
            <a:r>
              <a:rPr lang="en-IN" sz="1600" b="1" dirty="0"/>
              <a:t>Automated Operational Routing:</a:t>
            </a:r>
            <a:r>
              <a:rPr lang="en-IN" sz="1600" dirty="0"/>
              <a:t> Integrates predictive data insights directly into enterprise workflows, removing the communication gaps and inefficiencies associated with standalone ML scripts.</a:t>
            </a:r>
          </a:p>
          <a:p>
            <a:pPr marL="285750" indent="-285750">
              <a:lnSpc>
                <a:spcPct val="150000"/>
              </a:lnSpc>
              <a:buFont typeface="Arial" panose="020B0604020202020204" pitchFamily="34" charset="0"/>
              <a:buChar char="•"/>
            </a:pPr>
            <a:r>
              <a:rPr lang="en-IN" sz="1600" b="1" dirty="0"/>
              <a:t>Temporal Depreciation Analytics:</a:t>
            </a:r>
            <a:r>
              <a:rPr lang="en-IN" sz="1600" dirty="0"/>
              <a:t> Evaluates the specific relationship between original construction dates and </a:t>
            </a:r>
            <a:r>
              <a:rPr lang="en-IN" sz="1600" dirty="0" err="1"/>
              <a:t>remodeling</a:t>
            </a:r>
            <a:r>
              <a:rPr lang="en-IN" sz="1600" dirty="0"/>
              <a:t> years to precisely adjust asset depreciation and modern updates.</a:t>
            </a:r>
          </a:p>
          <a:p>
            <a:pPr marL="285750" indent="-285750">
              <a:lnSpc>
                <a:spcPct val="150000"/>
              </a:lnSpc>
              <a:buFont typeface="Arial" panose="020B0604020202020204" pitchFamily="34" charset="0"/>
              <a:buChar char="•"/>
            </a:pPr>
            <a:r>
              <a:rPr lang="en-IN" sz="1600" b="1" dirty="0"/>
              <a:t>Reusable Skill Packaging:</a:t>
            </a:r>
            <a:r>
              <a:rPr lang="en-IN" sz="1600" dirty="0"/>
              <a:t> Converts the complex machine learning model into a plug-and-play enterprise skill that can be readily adopted by broader systems like banking or mortgage underwriting.</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hlinkClick r:id="rId3"/>
              </a:rPr>
              <a:t>https://github.com/chetan1472/EDUNET-ML-PROJECT</a:t>
            </a:r>
            <a:endParaRPr lang="en-US" sz="1850" dirty="0">
              <a:solidFill>
                <a:srgbClr val="2B3541"/>
              </a:solidFill>
              <a:latin typeface="Times New Roman"/>
              <a:ea typeface="Times New Roman"/>
              <a:cs typeface="Times New Roman"/>
            </a:endParaRPr>
          </a:p>
          <a:p>
            <a:pPr>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Data.csv file, 2) yourproblemstatement.pdf file  3) your project presntation.pptx file 4) Python Notebook downloaded from IBM Cloud</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99062"/>
            <a:ext cx="10458926" cy="4277001"/>
          </a:xfrm>
          <a:prstGeom prst="rect">
            <a:avLst/>
          </a:prstGeom>
          <a:noFill/>
          <a:ln>
            <a:noFill/>
          </a:ln>
        </p:spPr>
        <p:txBody>
          <a:bodyPr spcFirstLastPara="1" wrap="square" lIns="0" tIns="0" rIns="0" bIns="0" anchor="t" anchorCtr="0">
            <a:noAutofit/>
          </a:bodyPr>
          <a:lstStyle/>
          <a:p>
            <a:pPr marL="285750" indent="-285750">
              <a:lnSpc>
                <a:spcPct val="150000"/>
              </a:lnSpc>
              <a:buFont typeface="Arial" panose="020B0604020202020204" pitchFamily="34" charset="0"/>
              <a:buChar char="•"/>
            </a:pPr>
            <a:r>
              <a:rPr lang="en-IN" sz="1800" b="1" dirty="0"/>
              <a:t>Geospatial and GIS Integration:</a:t>
            </a:r>
            <a:r>
              <a:rPr lang="en-IN" sz="1800" dirty="0"/>
              <a:t> Incorporating live geographical mapping and spatial data to </a:t>
            </a:r>
            <a:r>
              <a:rPr lang="en-IN" sz="1800" dirty="0" err="1"/>
              <a:t>analyze</a:t>
            </a:r>
            <a:r>
              <a:rPr lang="en-IN" sz="1800" dirty="0"/>
              <a:t> </a:t>
            </a:r>
            <a:r>
              <a:rPr lang="en-IN" sz="1800" dirty="0" err="1"/>
              <a:t>neighborhood</a:t>
            </a:r>
            <a:r>
              <a:rPr lang="en-IN" sz="1800" dirty="0"/>
              <a:t> trends, proximity to infrastructure, and environmental factors.</a:t>
            </a:r>
          </a:p>
          <a:p>
            <a:pPr marL="285750" indent="-285750">
              <a:lnSpc>
                <a:spcPct val="150000"/>
              </a:lnSpc>
              <a:buFont typeface="Arial" panose="020B0604020202020204" pitchFamily="34" charset="0"/>
              <a:buChar char="•"/>
            </a:pPr>
            <a:r>
              <a:rPr lang="en-IN" sz="1800" b="1" dirty="0"/>
              <a:t>Dynamic Market Volatility Adjustments:</a:t>
            </a:r>
            <a:r>
              <a:rPr lang="en-IN" sz="1800" dirty="0"/>
              <a:t> Fetching live economic indicators, interest rate fluctuations, and inflation indexes to adjust the predictive output according to real-time market shifts.</a:t>
            </a:r>
          </a:p>
          <a:p>
            <a:pPr marL="285750" indent="-285750">
              <a:lnSpc>
                <a:spcPct val="150000"/>
              </a:lnSpc>
              <a:buFont typeface="Arial" panose="020B0604020202020204" pitchFamily="34" charset="0"/>
              <a:buChar char="•"/>
            </a:pPr>
            <a:r>
              <a:rPr lang="en-IN" sz="1800" b="1" dirty="0"/>
              <a:t>Automated Document Intake:</a:t>
            </a:r>
            <a:r>
              <a:rPr lang="en-IN" sz="1800" dirty="0"/>
              <a:t> Utilizing advanced OCR (Optical Character Recognition) skills to extract property specifications directly from uploaded land deeds or architectural blueprints.</a:t>
            </a:r>
          </a:p>
          <a:p>
            <a:pPr marL="285750" indent="-285750">
              <a:lnSpc>
                <a:spcPct val="150000"/>
              </a:lnSpc>
              <a:buFont typeface="Arial" panose="020B0604020202020204" pitchFamily="34" charset="0"/>
              <a:buChar char="•"/>
            </a:pPr>
            <a:r>
              <a:rPr lang="en-IN" sz="1800" b="1" dirty="0"/>
              <a:t>Computer Vision Enhancements:</a:t>
            </a:r>
            <a:r>
              <a:rPr lang="en-IN" sz="1800" dirty="0"/>
              <a:t> Integrating image classification models to assess a property's condition rating directly from uploaded interior and exterior photographs.</a:t>
            </a:r>
          </a:p>
          <a:p>
            <a:pPr marL="285750" indent="-285750">
              <a:lnSpc>
                <a:spcPct val="150000"/>
              </a:lnSpc>
              <a:buFont typeface="Arial" panose="020B0604020202020204" pitchFamily="34" charset="0"/>
              <a:buChar char="•"/>
            </a:pPr>
            <a:r>
              <a:rPr lang="en-IN" sz="1800" b="1" dirty="0"/>
              <a:t>Automated Mortgage Integration:</a:t>
            </a:r>
            <a:r>
              <a:rPr lang="en-IN" sz="1800" dirty="0"/>
              <a:t> Linking the pricing engine with financial APIs to provide instantaneous loan-to-value calculations and pre-approval options directly within the orchestration workflow.</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884615" y="1016103"/>
            <a:ext cx="6422769" cy="482579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7" name="Picture 6">
            <a:extLst>
              <a:ext uri="{FF2B5EF4-FFF2-40B4-BE49-F238E27FC236}">
                <a16:creationId xmlns:a16="http://schemas.microsoft.com/office/drawing/2014/main" id="{FA1A4E06-AC27-3244-5E0B-03D5C5B7F9FC}"/>
              </a:ext>
            </a:extLst>
          </p:cNvPr>
          <p:cNvPicPr>
            <a:picLocks noChangeAspect="1"/>
          </p:cNvPicPr>
          <p:nvPr/>
        </p:nvPicPr>
        <p:blipFill>
          <a:blip r:embed="rId2"/>
          <a:stretch>
            <a:fillRect/>
          </a:stretch>
        </p:blipFill>
        <p:spPr>
          <a:xfrm>
            <a:off x="2040360" y="925025"/>
            <a:ext cx="8111279" cy="500794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657</Words>
  <Application>Microsoft Office PowerPoint</Application>
  <PresentationFormat>Widescreen</PresentationFormat>
  <Paragraphs>57</Paragraphs>
  <Slides>16</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Shubhamkumar Patil</cp:lastModifiedBy>
  <cp:revision>9</cp:revision>
  <dcterms:created xsi:type="dcterms:W3CDTF">2025-07-08T05:06:56Z</dcterms:created>
  <dcterms:modified xsi:type="dcterms:W3CDTF">2026-07-01T16:23:32Z</dcterms:modified>
</cp:coreProperties>
</file>